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5143500" cy="9144000"/>
  <p:embeddedFontLst>
    <p:embeddedFont>
      <p:font typeface="Roboto Mon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jstsB9nWKMuT4w68cprn6G9wTB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RobotoMono-regular.fntdata"/><Relationship Id="rId21" Type="http://schemas.openxmlformats.org/officeDocument/2006/relationships/slide" Target="slides/slide17.xml"/><Relationship Id="rId24" Type="http://schemas.openxmlformats.org/officeDocument/2006/relationships/font" Target="fonts/RobotoMono-italic.fntdata"/><Relationship Id="rId23" Type="http://schemas.openxmlformats.org/officeDocument/2006/relationships/font" Target="fonts/RobotoMono-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customschemas.google.com/relationships/presentationmetadata" Target="metadata"/><Relationship Id="rId25" Type="http://schemas.openxmlformats.org/officeDocument/2006/relationships/font" Target="fonts/RobotoMono-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 name="Google Shape;2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7" name="Google Shape;27;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 name="Google Shape;4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0" name="Google Shape;5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9" name="Google Shape;7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8" name="Google Shape;10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37" name="Google Shape;137;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47" name="Google Shape;147;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4" name="Google Shape;174;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09" name="Google Shape;209;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h5126fda51bca4d5d_0_7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h5126fda51bca4d5d_0_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19" name="Google Shape;219;h5126fda51bca4d5d_0_7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h5bf476280ccb24fb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h5bf476280ccb24fb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29" name="Google Shape;229;h5bf476280ccb24fb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h5bf476280ccb24fb_0_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h5bf476280ccb24fb_0_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39" name="Google Shape;239;h5bf476280ccb24fb_0_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49" name="Google Shape;249;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05" name="Google Shape;305;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31" name="Google Shape;331;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6" name="Google Shape;35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57" name="Google Shape;357;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83" name="Google Shape;383;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png"/><Relationship Id="rId10" Type="http://schemas.openxmlformats.org/officeDocument/2006/relationships/image" Target="../media/image6.png"/><Relationship Id="rId9"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11.png"/><Relationship Id="rId8"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A6B"/>
        </a:solidFill>
      </p:bgPr>
    </p:bg>
    <p:spTree>
      <p:nvGrpSpPr>
        <p:cNvPr id="11" name="Shape 11"/>
        <p:cNvGrpSpPr/>
        <p:nvPr/>
      </p:nvGrpSpPr>
      <p:grpSpPr>
        <a:xfrm>
          <a:off x="0" y="0"/>
          <a:ext cx="0" cy="0"/>
          <a:chOff x="0" y="0"/>
          <a:chExt cx="0" cy="0"/>
        </a:xfrm>
      </p:grpSpPr>
      <p:sp>
        <p:nvSpPr>
          <p:cNvPr id="12" name="Google Shape;12;p1"/>
          <p:cNvSpPr/>
          <p:nvPr/>
        </p:nvSpPr>
        <p:spPr>
          <a:xfrm>
            <a:off x="0" y="0"/>
            <a:ext cx="164592" cy="51435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p:nvPr/>
        </p:nvSpPr>
        <p:spPr>
          <a:xfrm>
            <a:off x="164592" y="0"/>
            <a:ext cx="8979408" cy="109728"/>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 name="Google Shape;14;p1"/>
          <p:cNvPicPr preferRelativeResize="0"/>
          <p:nvPr/>
        </p:nvPicPr>
        <p:blipFill rotWithShape="1">
          <a:blip r:embed="rId3">
            <a:alphaModFix/>
          </a:blip>
          <a:srcRect b="0" l="0" r="0" t="0"/>
          <a:stretch/>
        </p:blipFill>
        <p:spPr>
          <a:xfrm>
            <a:off x="6766560" y="1371600"/>
            <a:ext cx="1371600" cy="1371600"/>
          </a:xfrm>
          <a:prstGeom prst="rect">
            <a:avLst/>
          </a:prstGeom>
          <a:noFill/>
          <a:ln>
            <a:noFill/>
          </a:ln>
        </p:spPr>
      </p:pic>
      <p:sp>
        <p:nvSpPr>
          <p:cNvPr id="15" name="Google Shape;15;p1"/>
          <p:cNvSpPr/>
          <p:nvPr/>
        </p:nvSpPr>
        <p:spPr>
          <a:xfrm>
            <a:off x="502920" y="731520"/>
            <a:ext cx="5760720" cy="2011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An Intelligent</a:t>
            </a:r>
            <a:endParaRPr b="0" i="0" sz="2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Decision-Support System</a:t>
            </a:r>
            <a:endParaRPr b="0" i="0" sz="2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for Recruitment - RecruitIQ</a:t>
            </a:r>
            <a:endParaRPr b="0" i="0" sz="2800" u="none" cap="none" strike="noStrike">
              <a:solidFill>
                <a:schemeClr val="dk1"/>
              </a:solidFill>
              <a:latin typeface="Calibri"/>
              <a:ea typeface="Calibri"/>
              <a:cs typeface="Calibri"/>
              <a:sym typeface="Calibri"/>
            </a:endParaRPr>
          </a:p>
        </p:txBody>
      </p:sp>
      <p:sp>
        <p:nvSpPr>
          <p:cNvPr id="16" name="Google Shape;16;p1"/>
          <p:cNvSpPr/>
          <p:nvPr/>
        </p:nvSpPr>
        <p:spPr>
          <a:xfrm>
            <a:off x="502920" y="2788920"/>
            <a:ext cx="2651760" cy="347472"/>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636395" y="2788920"/>
            <a:ext cx="26517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METHODOLOGY</a:t>
            </a:r>
            <a:r>
              <a:rPr b="1" i="0" lang="en-US" sz="1000" u="none" cap="none" strike="noStrike">
                <a:solidFill>
                  <a:srgbClr val="FFFFFF"/>
                </a:solidFill>
                <a:latin typeface="Calibri"/>
                <a:ea typeface="Calibri"/>
                <a:cs typeface="Calibri"/>
                <a:sym typeface="Calibri"/>
              </a:rPr>
              <a:t> PRESENTATION</a:t>
            </a:r>
            <a:endParaRPr b="0" i="0" sz="1000" u="none" cap="none" strike="noStrike">
              <a:solidFill>
                <a:schemeClr val="dk1"/>
              </a:solidFill>
              <a:latin typeface="Calibri"/>
              <a:ea typeface="Calibri"/>
              <a:cs typeface="Calibri"/>
              <a:sym typeface="Calibri"/>
            </a:endParaRPr>
          </a:p>
        </p:txBody>
      </p:sp>
      <p:sp>
        <p:nvSpPr>
          <p:cNvPr id="18" name="Google Shape;18;p1"/>
          <p:cNvSpPr/>
          <p:nvPr/>
        </p:nvSpPr>
        <p:spPr>
          <a:xfrm>
            <a:off x="164592" y="3337560"/>
            <a:ext cx="8979408" cy="1805940"/>
          </a:xfrm>
          <a:prstGeom prst="rect">
            <a:avLst/>
          </a:prstGeom>
          <a:solidFill>
            <a:srgbClr val="152D55"/>
          </a:solidFill>
          <a:ln cap="flat" cmpd="sng" w="12700">
            <a:solidFill>
              <a:srgbClr val="152D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 name="Google Shape;19;p1"/>
          <p:cNvSpPr/>
          <p:nvPr/>
        </p:nvSpPr>
        <p:spPr>
          <a:xfrm>
            <a:off x="502920" y="3474720"/>
            <a:ext cx="2011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100"/>
              <a:buFont typeface="Calibri"/>
              <a:buNone/>
            </a:pPr>
            <a:r>
              <a:rPr b="1" lang="en-US" sz="1100">
                <a:solidFill>
                  <a:srgbClr val="0D9488"/>
                </a:solidFill>
                <a:latin typeface="Calibri"/>
                <a:ea typeface="Calibri"/>
                <a:cs typeface="Calibri"/>
                <a:sym typeface="Calibri"/>
              </a:rPr>
              <a:t>STUDENT</a:t>
            </a:r>
            <a:endParaRPr sz="900">
              <a:solidFill>
                <a:schemeClr val="dk1"/>
              </a:solidFill>
              <a:latin typeface="Calibri"/>
              <a:ea typeface="Calibri"/>
              <a:cs typeface="Calibri"/>
              <a:sym typeface="Calibri"/>
            </a:endParaRPr>
          </a:p>
        </p:txBody>
      </p:sp>
      <p:sp>
        <p:nvSpPr>
          <p:cNvPr id="20" name="Google Shape;20;p1"/>
          <p:cNvSpPr/>
          <p:nvPr/>
        </p:nvSpPr>
        <p:spPr>
          <a:xfrm>
            <a:off x="493776" y="3785616"/>
            <a:ext cx="2794369" cy="5577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200">
                <a:solidFill>
                  <a:srgbClr val="FFFFFF"/>
                </a:solidFill>
                <a:latin typeface="Calibri"/>
                <a:ea typeface="Calibri"/>
                <a:cs typeface="Calibri"/>
                <a:sym typeface="Calibri"/>
              </a:rPr>
              <a:t>Name: </a:t>
            </a:r>
            <a:r>
              <a:rPr b="1" lang="en-US" sz="1200">
                <a:solidFill>
                  <a:srgbClr val="CBD5E1"/>
                </a:solidFill>
                <a:latin typeface="Calibri"/>
                <a:ea typeface="Calibri"/>
                <a:cs typeface="Calibri"/>
                <a:sym typeface="Calibri"/>
              </a:rPr>
              <a:t>OLADAPO OLALEKAN OLANREWAJU</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Matric No: 230912</a:t>
            </a:r>
            <a:endParaRPr sz="1200">
              <a:solidFill>
                <a:schemeClr val="dk1"/>
              </a:solidFill>
              <a:latin typeface="Calibri"/>
              <a:ea typeface="Calibri"/>
              <a:cs typeface="Calibri"/>
              <a:sym typeface="Calibri"/>
            </a:endParaRPr>
          </a:p>
        </p:txBody>
      </p:sp>
      <p:sp>
        <p:nvSpPr>
          <p:cNvPr id="21" name="Google Shape;21;p1"/>
          <p:cNvSpPr/>
          <p:nvPr/>
        </p:nvSpPr>
        <p:spPr>
          <a:xfrm>
            <a:off x="3566160" y="3474720"/>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100"/>
              <a:buFont typeface="Calibri"/>
              <a:buNone/>
            </a:pPr>
            <a:r>
              <a:rPr b="1" lang="en-US" sz="1100">
                <a:solidFill>
                  <a:srgbClr val="0D9488"/>
                </a:solidFill>
                <a:latin typeface="Calibri"/>
                <a:ea typeface="Calibri"/>
                <a:cs typeface="Calibri"/>
                <a:sym typeface="Calibri"/>
              </a:rPr>
              <a:t>SUPERVISOR</a:t>
            </a:r>
            <a:endParaRPr sz="1100">
              <a:solidFill>
                <a:schemeClr val="dk1"/>
              </a:solidFill>
              <a:latin typeface="Calibri"/>
              <a:ea typeface="Calibri"/>
              <a:cs typeface="Calibri"/>
              <a:sym typeface="Calibri"/>
            </a:endParaRPr>
          </a:p>
        </p:txBody>
      </p:sp>
      <p:sp>
        <p:nvSpPr>
          <p:cNvPr id="22" name="Google Shape;22;p1"/>
          <p:cNvSpPr/>
          <p:nvPr/>
        </p:nvSpPr>
        <p:spPr>
          <a:xfrm>
            <a:off x="3566160" y="3749040"/>
            <a:ext cx="2794369" cy="3937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Supervisor: </a:t>
            </a:r>
            <a:r>
              <a:rPr b="1" lang="en-US" sz="1200">
                <a:solidFill>
                  <a:srgbClr val="CBD5E1"/>
                </a:solidFill>
                <a:latin typeface="Calibri"/>
                <a:ea typeface="Calibri"/>
                <a:cs typeface="Calibri"/>
                <a:sym typeface="Calibri"/>
              </a:rPr>
              <a:t>Mr. AYETUOMA I. O.</a:t>
            </a:r>
            <a:endParaRPr sz="1200">
              <a:solidFill>
                <a:schemeClr val="dk1"/>
              </a:solidFill>
              <a:latin typeface="Calibri"/>
              <a:ea typeface="Calibri"/>
              <a:cs typeface="Calibri"/>
              <a:sym typeface="Calibri"/>
            </a:endParaRPr>
          </a:p>
        </p:txBody>
      </p:sp>
      <p:sp>
        <p:nvSpPr>
          <p:cNvPr id="23" name="Google Shape;23;p1"/>
          <p:cNvSpPr/>
          <p:nvPr/>
        </p:nvSpPr>
        <p:spPr>
          <a:xfrm>
            <a:off x="6217920" y="3456432"/>
            <a:ext cx="2701224" cy="70871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BD5E1"/>
              </a:buClr>
              <a:buSzPts val="1100"/>
              <a:buFont typeface="Calibri"/>
              <a:buNone/>
            </a:pPr>
            <a:r>
              <a:rPr lang="en-US" sz="1100">
                <a:solidFill>
                  <a:srgbClr val="CBD5E1"/>
                </a:solidFill>
                <a:latin typeface="Calibri"/>
                <a:ea typeface="Calibri"/>
                <a:cs typeface="Calibri"/>
                <a:sym typeface="Calibri"/>
              </a:rPr>
              <a:t>Department of Computer Science</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CBD5E1"/>
              </a:buClr>
              <a:buSzPts val="1100"/>
              <a:buFont typeface="Calibri"/>
              <a:buNone/>
            </a:pPr>
            <a:r>
              <a:rPr lang="en-US" sz="1100">
                <a:solidFill>
                  <a:srgbClr val="CBD5E1"/>
                </a:solidFill>
                <a:latin typeface="Calibri"/>
                <a:ea typeface="Calibri"/>
                <a:cs typeface="Calibri"/>
                <a:sym typeface="Calibri"/>
              </a:rPr>
              <a:t>BSc (Hons) Computer Science</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CBD5E1"/>
              </a:buClr>
              <a:buSzPts val="1100"/>
              <a:buFont typeface="Calibri"/>
              <a:buNone/>
            </a:pPr>
            <a:r>
              <a:rPr lang="en-US" sz="1100">
                <a:solidFill>
                  <a:srgbClr val="CBD5E1"/>
                </a:solidFill>
                <a:latin typeface="Calibri"/>
                <a:ea typeface="Calibri"/>
                <a:cs typeface="Calibri"/>
                <a:sym typeface="Calibri"/>
              </a:rPr>
              <a:t>Academic Year 2025/2026</a:t>
            </a:r>
            <a:endParaRPr sz="11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8" name="Shape 28"/>
        <p:cNvGrpSpPr/>
        <p:nvPr/>
      </p:nvGrpSpPr>
      <p:grpSpPr>
        <a:xfrm>
          <a:off x="0" y="0"/>
          <a:ext cx="0" cy="0"/>
          <a:chOff x="0" y="0"/>
          <a:chExt cx="0" cy="0"/>
        </a:xfrm>
      </p:grpSpPr>
      <p:sp>
        <p:nvSpPr>
          <p:cNvPr id="29" name="Google Shape;29;p2"/>
          <p:cNvSpPr/>
          <p:nvPr/>
        </p:nvSpPr>
        <p:spPr>
          <a:xfrm>
            <a:off x="457200" y="228600"/>
            <a:ext cx="2926080" cy="329184"/>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457200" y="228600"/>
            <a:ext cx="292608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INTRODUCTION</a:t>
            </a:r>
            <a:endParaRPr sz="950">
              <a:solidFill>
                <a:schemeClr val="dk1"/>
              </a:solidFill>
              <a:latin typeface="Calibri"/>
              <a:ea typeface="Calibri"/>
              <a:cs typeface="Calibri"/>
              <a:sym typeface="Calibri"/>
            </a:endParaRPr>
          </a:p>
        </p:txBody>
      </p:sp>
      <p:sp>
        <p:nvSpPr>
          <p:cNvPr id="31" name="Google Shape;31;p2"/>
          <p:cNvSpPr/>
          <p:nvPr/>
        </p:nvSpPr>
        <p:spPr>
          <a:xfrm>
            <a:off x="457200" y="658368"/>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800"/>
              <a:buFont typeface="Calibri"/>
              <a:buNone/>
            </a:pPr>
            <a:r>
              <a:rPr b="1" lang="en-US" sz="2800">
                <a:solidFill>
                  <a:srgbClr val="1B3A6B"/>
                </a:solidFill>
                <a:latin typeface="Calibri"/>
                <a:ea typeface="Calibri"/>
                <a:cs typeface="Calibri"/>
                <a:sym typeface="Calibri"/>
              </a:rPr>
              <a:t>Background &amp; Motivation</a:t>
            </a:r>
            <a:endParaRPr sz="2800">
              <a:solidFill>
                <a:schemeClr val="dk1"/>
              </a:solidFill>
              <a:latin typeface="Calibri"/>
              <a:ea typeface="Calibri"/>
              <a:cs typeface="Calibri"/>
              <a:sym typeface="Calibri"/>
            </a:endParaRPr>
          </a:p>
        </p:txBody>
      </p:sp>
      <p:sp>
        <p:nvSpPr>
          <p:cNvPr id="32" name="Google Shape;32;p2"/>
          <p:cNvSpPr/>
          <p:nvPr/>
        </p:nvSpPr>
        <p:spPr>
          <a:xfrm>
            <a:off x="457200" y="1737360"/>
            <a:ext cx="5120640" cy="301752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457200" y="1737360"/>
            <a:ext cx="91440" cy="3017520"/>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640080" y="1828800"/>
            <a:ext cx="4846320" cy="2834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lang="en-US" sz="1200">
                <a:solidFill>
                  <a:srgbClr val="1E293B"/>
                </a:solidFill>
                <a:latin typeface="Calibri"/>
                <a:ea typeface="Calibri"/>
                <a:cs typeface="Calibri"/>
                <a:sym typeface="Calibri"/>
              </a:rPr>
              <a:t>Recruitment is one of the most resource-intensive functions in Human Resource Management (HRM). Organisations routinely receive hundreds of applications per vacancy, yet continue to rely on manual, subjective review processes that are slow, inconsistent, and riddled with bias.</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200"/>
              <a:buFont typeface="Calibri"/>
              <a:buNone/>
            </a:pPr>
            <a:r>
              <a:rPr lang="en-US" sz="1200">
                <a:solidFill>
                  <a:srgbClr val="1E293B"/>
                </a:solidFill>
                <a:latin typeface="Calibri"/>
                <a:ea typeface="Calibri"/>
                <a:cs typeface="Calibri"/>
                <a:sym typeface="Calibri"/>
              </a:rPr>
              <a:t>Beyond inefficiency, existing systems fail to treat candidates equitably — discriminating consciously or unconsciously based on race, nationality, gender, educational institution, and more. Rejected applicants receive no constructive feedback, leaving them unable to improve.</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200"/>
              <a:buFont typeface="Calibri"/>
              <a:buNone/>
            </a:pPr>
            <a:r>
              <a:rPr lang="en-US" sz="1200">
                <a:solidFill>
                  <a:srgbClr val="1E293B"/>
                </a:solidFill>
                <a:latin typeface="Calibri"/>
                <a:ea typeface="Calibri"/>
                <a:cs typeface="Calibri"/>
                <a:sym typeface="Calibri"/>
              </a:rPr>
              <a:t>AI — specifically ML, NLP, and Explainable AI — can automate screening, ensure fairness, and empower both recruiters and candidates with transparent, actionable decisions.</a:t>
            </a:r>
            <a:endParaRPr sz="1200">
              <a:solidFill>
                <a:schemeClr val="dk1"/>
              </a:solidFill>
              <a:latin typeface="Calibri"/>
              <a:ea typeface="Calibri"/>
              <a:cs typeface="Calibri"/>
              <a:sym typeface="Calibri"/>
            </a:endParaRPr>
          </a:p>
        </p:txBody>
      </p:sp>
      <p:sp>
        <p:nvSpPr>
          <p:cNvPr id="35" name="Google Shape;35;p2"/>
          <p:cNvSpPr/>
          <p:nvPr/>
        </p:nvSpPr>
        <p:spPr>
          <a:xfrm>
            <a:off x="5852160" y="1737360"/>
            <a:ext cx="2834640" cy="13716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5852160" y="1737360"/>
            <a:ext cx="73152" cy="1371600"/>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2"/>
          <p:cNvPicPr preferRelativeResize="0"/>
          <p:nvPr/>
        </p:nvPicPr>
        <p:blipFill rotWithShape="1">
          <a:blip r:embed="rId3">
            <a:alphaModFix/>
          </a:blip>
          <a:srcRect b="0" l="0" r="0" t="0"/>
          <a:stretch/>
        </p:blipFill>
        <p:spPr>
          <a:xfrm>
            <a:off x="6035040" y="2057400"/>
            <a:ext cx="548640" cy="548640"/>
          </a:xfrm>
          <a:prstGeom prst="rect">
            <a:avLst/>
          </a:prstGeom>
          <a:noFill/>
          <a:ln>
            <a:noFill/>
          </a:ln>
        </p:spPr>
      </p:pic>
      <p:sp>
        <p:nvSpPr>
          <p:cNvPr id="38" name="Google Shape;38;p2"/>
          <p:cNvSpPr/>
          <p:nvPr/>
        </p:nvSpPr>
        <p:spPr>
          <a:xfrm>
            <a:off x="6675120" y="1847088"/>
            <a:ext cx="19202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3000"/>
              <a:buFont typeface="Calibri"/>
              <a:buNone/>
            </a:pPr>
            <a:r>
              <a:rPr b="1" lang="en-US" sz="3000">
                <a:solidFill>
                  <a:srgbClr val="1B3A6B"/>
                </a:solidFill>
                <a:latin typeface="Calibri"/>
                <a:ea typeface="Calibri"/>
                <a:cs typeface="Calibri"/>
                <a:sym typeface="Calibri"/>
              </a:rPr>
              <a:t>250+</a:t>
            </a:r>
            <a:endParaRPr sz="3000">
              <a:solidFill>
                <a:schemeClr val="dk1"/>
              </a:solidFill>
              <a:latin typeface="Calibri"/>
              <a:ea typeface="Calibri"/>
              <a:cs typeface="Calibri"/>
              <a:sym typeface="Calibri"/>
            </a:endParaRPr>
          </a:p>
        </p:txBody>
      </p:sp>
      <p:sp>
        <p:nvSpPr>
          <p:cNvPr id="39" name="Google Shape;39;p2"/>
          <p:cNvSpPr/>
          <p:nvPr/>
        </p:nvSpPr>
        <p:spPr>
          <a:xfrm>
            <a:off x="6675120" y="2423160"/>
            <a:ext cx="19202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lang="en-US" sz="1050">
                <a:solidFill>
                  <a:srgbClr val="64748B"/>
                </a:solidFill>
                <a:latin typeface="Calibri"/>
                <a:ea typeface="Calibri"/>
                <a:cs typeface="Calibri"/>
                <a:sym typeface="Calibri"/>
              </a:rPr>
              <a:t>Avg. Applications</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50"/>
              <a:buFont typeface="Calibri"/>
              <a:buNone/>
            </a:pPr>
            <a:r>
              <a:rPr lang="en-US" sz="1050">
                <a:solidFill>
                  <a:srgbClr val="64748B"/>
                </a:solidFill>
                <a:latin typeface="Calibri"/>
                <a:ea typeface="Calibri"/>
                <a:cs typeface="Calibri"/>
                <a:sym typeface="Calibri"/>
              </a:rPr>
              <a:t>per Job Posting</a:t>
            </a:r>
            <a:endParaRPr sz="1050">
              <a:solidFill>
                <a:schemeClr val="dk1"/>
              </a:solidFill>
              <a:latin typeface="Calibri"/>
              <a:ea typeface="Calibri"/>
              <a:cs typeface="Calibri"/>
              <a:sym typeface="Calibri"/>
            </a:endParaRPr>
          </a:p>
        </p:txBody>
      </p:sp>
      <p:sp>
        <p:nvSpPr>
          <p:cNvPr id="40" name="Google Shape;40;p2"/>
          <p:cNvSpPr/>
          <p:nvPr/>
        </p:nvSpPr>
        <p:spPr>
          <a:xfrm>
            <a:off x="5852160" y="3337560"/>
            <a:ext cx="2834640" cy="13716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5852160" y="3337560"/>
            <a:ext cx="73152" cy="13716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 name="Google Shape;42;p2"/>
          <p:cNvPicPr preferRelativeResize="0"/>
          <p:nvPr/>
        </p:nvPicPr>
        <p:blipFill rotWithShape="1">
          <a:blip r:embed="rId4">
            <a:alphaModFix/>
          </a:blip>
          <a:srcRect b="0" l="0" r="0" t="0"/>
          <a:stretch/>
        </p:blipFill>
        <p:spPr>
          <a:xfrm>
            <a:off x="6035040" y="3657600"/>
            <a:ext cx="548640" cy="548640"/>
          </a:xfrm>
          <a:prstGeom prst="rect">
            <a:avLst/>
          </a:prstGeom>
          <a:noFill/>
          <a:ln>
            <a:noFill/>
          </a:ln>
        </p:spPr>
      </p:pic>
      <p:sp>
        <p:nvSpPr>
          <p:cNvPr id="43" name="Google Shape;43;p2"/>
          <p:cNvSpPr/>
          <p:nvPr/>
        </p:nvSpPr>
        <p:spPr>
          <a:xfrm>
            <a:off x="6675120" y="3447288"/>
            <a:ext cx="19202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3000"/>
              <a:buFont typeface="Calibri"/>
              <a:buNone/>
            </a:pPr>
            <a:r>
              <a:rPr b="1" lang="en-US" sz="3000">
                <a:solidFill>
                  <a:srgbClr val="0D9488"/>
                </a:solidFill>
                <a:latin typeface="Calibri"/>
                <a:ea typeface="Calibri"/>
                <a:cs typeface="Calibri"/>
                <a:sym typeface="Calibri"/>
              </a:rPr>
              <a:t>70%</a:t>
            </a:r>
            <a:endParaRPr sz="3000">
              <a:solidFill>
                <a:schemeClr val="dk1"/>
              </a:solidFill>
              <a:latin typeface="Calibri"/>
              <a:ea typeface="Calibri"/>
              <a:cs typeface="Calibri"/>
              <a:sym typeface="Calibri"/>
            </a:endParaRPr>
          </a:p>
        </p:txBody>
      </p:sp>
      <p:sp>
        <p:nvSpPr>
          <p:cNvPr id="44" name="Google Shape;44;p2"/>
          <p:cNvSpPr/>
          <p:nvPr/>
        </p:nvSpPr>
        <p:spPr>
          <a:xfrm>
            <a:off x="6675120" y="4023360"/>
            <a:ext cx="19202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lang="en-US" sz="1050">
                <a:solidFill>
                  <a:srgbClr val="64748B"/>
                </a:solidFill>
                <a:latin typeface="Calibri"/>
                <a:ea typeface="Calibri"/>
                <a:cs typeface="Calibri"/>
                <a:sym typeface="Calibri"/>
              </a:rPr>
              <a:t>Reduction in</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50"/>
              <a:buFont typeface="Calibri"/>
              <a:buNone/>
            </a:pPr>
            <a:r>
              <a:rPr lang="en-US" sz="1050">
                <a:solidFill>
                  <a:srgbClr val="64748B"/>
                </a:solidFill>
                <a:latin typeface="Calibri"/>
                <a:ea typeface="Calibri"/>
                <a:cs typeface="Calibri"/>
                <a:sym typeface="Calibri"/>
              </a:rPr>
              <a:t>Screening Time with AI</a:t>
            </a:r>
            <a:endParaRPr sz="1050">
              <a:solidFill>
                <a:schemeClr val="dk1"/>
              </a:solidFill>
              <a:latin typeface="Calibri"/>
              <a:ea typeface="Calibri"/>
              <a:cs typeface="Calibri"/>
              <a:sym typeface="Calibri"/>
            </a:endParaRPr>
          </a:p>
        </p:txBody>
      </p:sp>
      <p:sp>
        <p:nvSpPr>
          <p:cNvPr id="45" name="Google Shape;45;p2"/>
          <p:cNvSpPr/>
          <p:nvPr/>
        </p:nvSpPr>
        <p:spPr>
          <a:xfrm>
            <a:off x="5852160" y="4041648"/>
            <a:ext cx="2834640" cy="777240"/>
          </a:xfrm>
          <a:prstGeom prst="rect">
            <a:avLst/>
          </a:prstGeom>
          <a:solidFill>
            <a:srgbClr val="E0F2F1"/>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5989320" y="4087368"/>
            <a:ext cx="26517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7A70"/>
              </a:buClr>
              <a:buSzPts val="1000"/>
              <a:buFont typeface="Calibri"/>
              <a:buNone/>
            </a:pPr>
            <a:r>
              <a:rPr lang="en-US" sz="1000">
                <a:solidFill>
                  <a:srgbClr val="0A7A70"/>
                </a:solidFill>
                <a:latin typeface="Calibri"/>
                <a:ea typeface="Calibri"/>
                <a:cs typeface="Calibri"/>
                <a:sym typeface="Calibri"/>
              </a:rPr>
              <a:t>This project designs an IDSS that automates CV screening, eliminates bias of all kinds, ranks candidates fairly, and provides meaningful feedback to every applicant.</a:t>
            </a:r>
            <a:endParaRPr sz="1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1" name="Shape 51"/>
        <p:cNvGrpSpPr/>
        <p:nvPr/>
      </p:nvGrpSpPr>
      <p:grpSpPr>
        <a:xfrm>
          <a:off x="0" y="0"/>
          <a:ext cx="0" cy="0"/>
          <a:chOff x="0" y="0"/>
          <a:chExt cx="0" cy="0"/>
        </a:xfrm>
      </p:grpSpPr>
      <p:sp>
        <p:nvSpPr>
          <p:cNvPr id="52" name="Google Shape;52;p3"/>
          <p:cNvSpPr/>
          <p:nvPr/>
        </p:nvSpPr>
        <p:spPr>
          <a:xfrm>
            <a:off x="457200" y="228600"/>
            <a:ext cx="2926080" cy="329184"/>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457200" y="228600"/>
            <a:ext cx="292608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LITERATURE REVIEW &amp; RELATED WORKS</a:t>
            </a:r>
            <a:endParaRPr sz="950">
              <a:solidFill>
                <a:schemeClr val="dk1"/>
              </a:solidFill>
              <a:latin typeface="Calibri"/>
              <a:ea typeface="Calibri"/>
              <a:cs typeface="Calibri"/>
              <a:sym typeface="Calibri"/>
            </a:endParaRPr>
          </a:p>
        </p:txBody>
      </p:sp>
      <p:sp>
        <p:nvSpPr>
          <p:cNvPr id="54" name="Google Shape;54;p3"/>
          <p:cNvSpPr/>
          <p:nvPr/>
        </p:nvSpPr>
        <p:spPr>
          <a:xfrm>
            <a:off x="457200" y="658368"/>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800"/>
              <a:buFont typeface="Calibri"/>
              <a:buNone/>
            </a:pPr>
            <a:r>
              <a:rPr b="1" lang="en-US" sz="2800">
                <a:solidFill>
                  <a:srgbClr val="1B3A6B"/>
                </a:solidFill>
                <a:latin typeface="Calibri"/>
                <a:ea typeface="Calibri"/>
                <a:cs typeface="Calibri"/>
                <a:sym typeface="Calibri"/>
              </a:rPr>
              <a:t>Resume Screening &amp; Candidate Ranking Systems</a:t>
            </a:r>
            <a:endParaRPr sz="2800">
              <a:solidFill>
                <a:schemeClr val="dk1"/>
              </a:solidFill>
              <a:latin typeface="Calibri"/>
              <a:ea typeface="Calibri"/>
              <a:cs typeface="Calibri"/>
              <a:sym typeface="Calibri"/>
            </a:endParaRPr>
          </a:p>
        </p:txBody>
      </p:sp>
      <p:sp>
        <p:nvSpPr>
          <p:cNvPr id="55" name="Google Shape;55;p3"/>
          <p:cNvSpPr/>
          <p:nvPr/>
        </p:nvSpPr>
        <p:spPr>
          <a:xfrm>
            <a:off x="457200" y="1691640"/>
            <a:ext cx="8229600" cy="1024128"/>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a:off x="457200" y="1691640"/>
            <a:ext cx="109728" cy="1024128"/>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658368" y="1764792"/>
            <a:ext cx="1645920" cy="256032"/>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658368" y="1764792"/>
            <a:ext cx="16459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Najjar et al. (2022)</a:t>
            </a:r>
            <a:endParaRPr sz="900">
              <a:solidFill>
                <a:schemeClr val="dk1"/>
              </a:solidFill>
              <a:latin typeface="Calibri"/>
              <a:ea typeface="Calibri"/>
              <a:cs typeface="Calibri"/>
              <a:sym typeface="Calibri"/>
            </a:endParaRPr>
          </a:p>
        </p:txBody>
      </p:sp>
      <p:sp>
        <p:nvSpPr>
          <p:cNvPr id="59" name="Google Shape;59;p3"/>
          <p:cNvSpPr/>
          <p:nvPr/>
        </p:nvSpPr>
        <p:spPr>
          <a:xfrm>
            <a:off x="2423160" y="1755648"/>
            <a:ext cx="6126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1" lang="en-US" sz="1050">
                <a:solidFill>
                  <a:srgbClr val="1E293B"/>
                </a:solidFill>
                <a:latin typeface="Calibri"/>
                <a:ea typeface="Calibri"/>
                <a:cs typeface="Calibri"/>
                <a:sym typeface="Calibri"/>
              </a:rPr>
              <a:t>I-Recruiter: An Intelligent Decision Support System for Recruitment</a:t>
            </a:r>
            <a:endParaRPr sz="1050">
              <a:solidFill>
                <a:schemeClr val="dk1"/>
              </a:solidFill>
              <a:latin typeface="Calibri"/>
              <a:ea typeface="Calibri"/>
              <a:cs typeface="Calibri"/>
              <a:sym typeface="Calibri"/>
            </a:endParaRPr>
          </a:p>
        </p:txBody>
      </p:sp>
      <p:sp>
        <p:nvSpPr>
          <p:cNvPr id="60" name="Google Shape;60;p3"/>
          <p:cNvSpPr/>
          <p:nvPr/>
        </p:nvSpPr>
        <p:spPr>
          <a:xfrm>
            <a:off x="2423160" y="2039112"/>
            <a:ext cx="61264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1000"/>
              <a:buFont typeface="Calibri"/>
              <a:buNone/>
            </a:pPr>
            <a:r>
              <a:rPr b="1" lang="en-US" sz="1000">
                <a:solidFill>
                  <a:srgbClr val="1B3A6B"/>
                </a:solidFill>
                <a:latin typeface="Calibri"/>
                <a:ea typeface="Calibri"/>
                <a:cs typeface="Calibri"/>
                <a:sym typeface="Calibri"/>
              </a:rPr>
              <a:t>Method: </a:t>
            </a:r>
            <a:r>
              <a:rPr lang="en-US" sz="1000">
                <a:solidFill>
                  <a:srgbClr val="1E293B"/>
                </a:solidFill>
                <a:latin typeface="Calibri"/>
                <a:ea typeface="Calibri"/>
                <a:cs typeface="Calibri"/>
                <a:sym typeface="Calibri"/>
              </a:rPr>
              <a:t>Word Embeddings + Cosine Similarity</a:t>
            </a:r>
            <a:endParaRPr/>
          </a:p>
          <a:p>
            <a:pPr indent="0" lvl="0" marL="0" marR="0" rtl="0" algn="l">
              <a:spcBef>
                <a:spcPts val="0"/>
              </a:spcBef>
              <a:spcAft>
                <a:spcPts val="0"/>
              </a:spcAft>
              <a:buClr>
                <a:srgbClr val="1B3A6B"/>
              </a:buClr>
              <a:buSzPts val="1000"/>
              <a:buFont typeface="Calibri"/>
              <a:buNone/>
            </a:pPr>
            <a:r>
              <a:rPr b="1" lang="en-US" sz="1000">
                <a:solidFill>
                  <a:srgbClr val="1B3A6B"/>
                </a:solidFill>
                <a:latin typeface="Calibri"/>
                <a:ea typeface="Calibri"/>
                <a:cs typeface="Calibri"/>
                <a:sym typeface="Calibri"/>
              </a:rPr>
              <a:t>Result: </a:t>
            </a:r>
            <a:r>
              <a:rPr lang="en-US" sz="1000">
                <a:solidFill>
                  <a:srgbClr val="1E293B"/>
                </a:solidFill>
                <a:latin typeface="Calibri"/>
                <a:ea typeface="Calibri"/>
                <a:cs typeface="Calibri"/>
                <a:sym typeface="Calibri"/>
              </a:rPr>
              <a:t>Effective CV ranking via semantic similarity between CVs and job descriptions</a:t>
            </a:r>
            <a:endParaRPr sz="1000">
              <a:solidFill>
                <a:schemeClr val="dk1"/>
              </a:solidFill>
              <a:latin typeface="Calibri"/>
              <a:ea typeface="Calibri"/>
              <a:cs typeface="Calibri"/>
              <a:sym typeface="Calibri"/>
            </a:endParaRPr>
          </a:p>
        </p:txBody>
      </p:sp>
      <p:sp>
        <p:nvSpPr>
          <p:cNvPr id="61" name="Google Shape;61;p3"/>
          <p:cNvSpPr/>
          <p:nvPr/>
        </p:nvSpPr>
        <p:spPr>
          <a:xfrm>
            <a:off x="2423160" y="2350008"/>
            <a:ext cx="6126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950"/>
              <a:buFont typeface="Calibri"/>
              <a:buNone/>
            </a:pPr>
            <a:r>
              <a:rPr b="1" lang="en-US" sz="950">
                <a:solidFill>
                  <a:srgbClr val="F59E0B"/>
                </a:solidFill>
                <a:latin typeface="Calibri"/>
                <a:ea typeface="Calibri"/>
                <a:cs typeface="Calibri"/>
                <a:sym typeface="Calibri"/>
              </a:rPr>
              <a:t>Gap: </a:t>
            </a:r>
            <a:r>
              <a:rPr i="1" lang="en-US" sz="950">
                <a:solidFill>
                  <a:srgbClr val="64748B"/>
                </a:solidFill>
                <a:latin typeface="Calibri"/>
                <a:ea typeface="Calibri"/>
                <a:cs typeface="Calibri"/>
                <a:sym typeface="Calibri"/>
              </a:rPr>
              <a:t>No bias removal; limited evaluation across multilingual datasets and job domains</a:t>
            </a:r>
            <a:endParaRPr sz="950">
              <a:solidFill>
                <a:schemeClr val="dk1"/>
              </a:solidFill>
              <a:latin typeface="Calibri"/>
              <a:ea typeface="Calibri"/>
              <a:cs typeface="Calibri"/>
              <a:sym typeface="Calibri"/>
            </a:endParaRPr>
          </a:p>
        </p:txBody>
      </p:sp>
      <p:sp>
        <p:nvSpPr>
          <p:cNvPr id="62" name="Google Shape;62;p3"/>
          <p:cNvSpPr/>
          <p:nvPr/>
        </p:nvSpPr>
        <p:spPr>
          <a:xfrm>
            <a:off x="457200" y="2788920"/>
            <a:ext cx="8229600" cy="1024128"/>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457200" y="2788920"/>
            <a:ext cx="109728" cy="1024128"/>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658368" y="2862072"/>
            <a:ext cx="1645920" cy="256032"/>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658368" y="2862072"/>
            <a:ext cx="16459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Tejaswini et al. (2022)</a:t>
            </a:r>
            <a:endParaRPr sz="900">
              <a:solidFill>
                <a:schemeClr val="dk1"/>
              </a:solidFill>
              <a:latin typeface="Calibri"/>
              <a:ea typeface="Calibri"/>
              <a:cs typeface="Calibri"/>
              <a:sym typeface="Calibri"/>
            </a:endParaRPr>
          </a:p>
        </p:txBody>
      </p:sp>
      <p:sp>
        <p:nvSpPr>
          <p:cNvPr id="66" name="Google Shape;66;p3"/>
          <p:cNvSpPr/>
          <p:nvPr/>
        </p:nvSpPr>
        <p:spPr>
          <a:xfrm>
            <a:off x="2423160" y="2852928"/>
            <a:ext cx="6126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1" lang="en-US" sz="1050">
                <a:solidFill>
                  <a:srgbClr val="1E293B"/>
                </a:solidFill>
                <a:latin typeface="Calibri"/>
                <a:ea typeface="Calibri"/>
                <a:cs typeface="Calibri"/>
                <a:sym typeface="Calibri"/>
              </a:rPr>
              <a:t>Design and Development of Machine Learning Based Resume Ranking System</a:t>
            </a:r>
            <a:endParaRPr sz="1050">
              <a:solidFill>
                <a:schemeClr val="dk1"/>
              </a:solidFill>
              <a:latin typeface="Calibri"/>
              <a:ea typeface="Calibri"/>
              <a:cs typeface="Calibri"/>
              <a:sym typeface="Calibri"/>
            </a:endParaRPr>
          </a:p>
        </p:txBody>
      </p:sp>
      <p:sp>
        <p:nvSpPr>
          <p:cNvPr id="67" name="Google Shape;67;p3"/>
          <p:cNvSpPr/>
          <p:nvPr/>
        </p:nvSpPr>
        <p:spPr>
          <a:xfrm>
            <a:off x="2423160" y="3136392"/>
            <a:ext cx="61264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00"/>
              <a:buFont typeface="Calibri"/>
              <a:buNone/>
            </a:pPr>
            <a:r>
              <a:rPr b="1" lang="en-US" sz="1000">
                <a:solidFill>
                  <a:srgbClr val="0D9488"/>
                </a:solidFill>
                <a:latin typeface="Calibri"/>
                <a:ea typeface="Calibri"/>
                <a:cs typeface="Calibri"/>
                <a:sym typeface="Calibri"/>
              </a:rPr>
              <a:t>Method: </a:t>
            </a:r>
            <a:r>
              <a:rPr lang="en-US" sz="1000">
                <a:solidFill>
                  <a:srgbClr val="1E293B"/>
                </a:solidFill>
                <a:latin typeface="Calibri"/>
                <a:ea typeface="Calibri"/>
                <a:cs typeface="Calibri"/>
                <a:sym typeface="Calibri"/>
              </a:rPr>
              <a:t>Content-based filtering; Cosine Similarity + KNN Algorithm</a:t>
            </a:r>
            <a:endParaRPr/>
          </a:p>
          <a:p>
            <a:pPr indent="0" lvl="0" marL="0" marR="0" rtl="0" algn="l">
              <a:spcBef>
                <a:spcPts val="0"/>
              </a:spcBef>
              <a:spcAft>
                <a:spcPts val="0"/>
              </a:spcAft>
              <a:buClr>
                <a:srgbClr val="0D9488"/>
              </a:buClr>
              <a:buSzPts val="1000"/>
              <a:buFont typeface="Calibri"/>
              <a:buNone/>
            </a:pPr>
            <a:r>
              <a:rPr b="1" lang="en-US" sz="1000">
                <a:solidFill>
                  <a:srgbClr val="0D9488"/>
                </a:solidFill>
                <a:latin typeface="Calibri"/>
                <a:ea typeface="Calibri"/>
                <a:cs typeface="Calibri"/>
                <a:sym typeface="Calibri"/>
              </a:rPr>
              <a:t>Result: </a:t>
            </a:r>
            <a:r>
              <a:rPr lang="en-US" sz="1000">
                <a:solidFill>
                  <a:srgbClr val="1E293B"/>
                </a:solidFill>
                <a:latin typeface="Calibri"/>
                <a:ea typeface="Calibri"/>
                <a:cs typeface="Calibri"/>
                <a:sym typeface="Calibri"/>
              </a:rPr>
              <a:t>Text parsing accuracy 85%; ranking accuracy 92%</a:t>
            </a:r>
            <a:endParaRPr sz="1000">
              <a:solidFill>
                <a:schemeClr val="dk1"/>
              </a:solidFill>
              <a:latin typeface="Calibri"/>
              <a:ea typeface="Calibri"/>
              <a:cs typeface="Calibri"/>
              <a:sym typeface="Calibri"/>
            </a:endParaRPr>
          </a:p>
        </p:txBody>
      </p:sp>
      <p:sp>
        <p:nvSpPr>
          <p:cNvPr id="68" name="Google Shape;68;p3"/>
          <p:cNvSpPr/>
          <p:nvPr/>
        </p:nvSpPr>
        <p:spPr>
          <a:xfrm>
            <a:off x="2423160" y="3447288"/>
            <a:ext cx="6126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950"/>
              <a:buFont typeface="Calibri"/>
              <a:buNone/>
            </a:pPr>
            <a:r>
              <a:rPr b="1" lang="en-US" sz="950">
                <a:solidFill>
                  <a:srgbClr val="F59E0B"/>
                </a:solidFill>
                <a:latin typeface="Calibri"/>
                <a:ea typeface="Calibri"/>
                <a:cs typeface="Calibri"/>
                <a:sym typeface="Calibri"/>
              </a:rPr>
              <a:t>Gap: </a:t>
            </a:r>
            <a:r>
              <a:rPr i="1" lang="en-US" sz="950">
                <a:solidFill>
                  <a:srgbClr val="64748B"/>
                </a:solidFill>
                <a:latin typeface="Calibri"/>
                <a:ea typeface="Calibri"/>
                <a:cs typeface="Calibri"/>
                <a:sym typeface="Calibri"/>
              </a:rPr>
              <a:t>No fairness metrics; degrades with large datasets and non-standard resume formats</a:t>
            </a:r>
            <a:endParaRPr sz="950">
              <a:solidFill>
                <a:schemeClr val="dk1"/>
              </a:solidFill>
              <a:latin typeface="Calibri"/>
              <a:ea typeface="Calibri"/>
              <a:cs typeface="Calibri"/>
              <a:sym typeface="Calibri"/>
            </a:endParaRPr>
          </a:p>
        </p:txBody>
      </p:sp>
      <p:sp>
        <p:nvSpPr>
          <p:cNvPr id="69" name="Google Shape;69;p3"/>
          <p:cNvSpPr/>
          <p:nvPr/>
        </p:nvSpPr>
        <p:spPr>
          <a:xfrm>
            <a:off x="457200" y="3886200"/>
            <a:ext cx="8229600" cy="1024128"/>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457200" y="3886200"/>
            <a:ext cx="109728" cy="1024128"/>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658368" y="3959352"/>
            <a:ext cx="1645920" cy="256032"/>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658368" y="3959352"/>
            <a:ext cx="16459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Tayal et al. (2024)</a:t>
            </a:r>
            <a:endParaRPr sz="900">
              <a:solidFill>
                <a:schemeClr val="dk1"/>
              </a:solidFill>
              <a:latin typeface="Calibri"/>
              <a:ea typeface="Calibri"/>
              <a:cs typeface="Calibri"/>
              <a:sym typeface="Calibri"/>
            </a:endParaRPr>
          </a:p>
        </p:txBody>
      </p:sp>
      <p:sp>
        <p:nvSpPr>
          <p:cNvPr id="73" name="Google Shape;73;p3"/>
          <p:cNvSpPr/>
          <p:nvPr/>
        </p:nvSpPr>
        <p:spPr>
          <a:xfrm>
            <a:off x="2423160" y="3950208"/>
            <a:ext cx="6126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1" lang="en-US" sz="1050">
                <a:solidFill>
                  <a:srgbClr val="1E293B"/>
                </a:solidFill>
                <a:latin typeface="Calibri"/>
                <a:ea typeface="Calibri"/>
                <a:cs typeface="Calibri"/>
                <a:sym typeface="Calibri"/>
              </a:rPr>
              <a:t>Resume Screening Using Machine Learning and NLP</a:t>
            </a:r>
            <a:endParaRPr sz="1050">
              <a:solidFill>
                <a:schemeClr val="dk1"/>
              </a:solidFill>
              <a:latin typeface="Calibri"/>
              <a:ea typeface="Calibri"/>
              <a:cs typeface="Calibri"/>
              <a:sym typeface="Calibri"/>
            </a:endParaRPr>
          </a:p>
        </p:txBody>
      </p:sp>
      <p:sp>
        <p:nvSpPr>
          <p:cNvPr id="74" name="Google Shape;74;p3"/>
          <p:cNvSpPr/>
          <p:nvPr/>
        </p:nvSpPr>
        <p:spPr>
          <a:xfrm>
            <a:off x="2423160" y="4233672"/>
            <a:ext cx="61264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1000"/>
              <a:buFont typeface="Calibri"/>
              <a:buNone/>
            </a:pPr>
            <a:r>
              <a:rPr b="1" lang="en-US" sz="1000">
                <a:solidFill>
                  <a:srgbClr val="3B82F6"/>
                </a:solidFill>
                <a:latin typeface="Calibri"/>
                <a:ea typeface="Calibri"/>
                <a:cs typeface="Calibri"/>
                <a:sym typeface="Calibri"/>
              </a:rPr>
              <a:t>Method: </a:t>
            </a:r>
            <a:r>
              <a:rPr lang="en-US" sz="1000">
                <a:solidFill>
                  <a:srgbClr val="1E293B"/>
                </a:solidFill>
                <a:latin typeface="Calibri"/>
                <a:ea typeface="Calibri"/>
                <a:cs typeface="Calibri"/>
                <a:sym typeface="Calibri"/>
              </a:rPr>
              <a:t>NLP preprocessing + SVM, Random Forest, Logistic Regression, BERT</a:t>
            </a:r>
            <a:endParaRPr/>
          </a:p>
          <a:p>
            <a:pPr indent="0" lvl="0" marL="0" marR="0" rtl="0" algn="l">
              <a:spcBef>
                <a:spcPts val="0"/>
              </a:spcBef>
              <a:spcAft>
                <a:spcPts val="0"/>
              </a:spcAft>
              <a:buClr>
                <a:srgbClr val="3B82F6"/>
              </a:buClr>
              <a:buSzPts val="1000"/>
              <a:buFont typeface="Calibri"/>
              <a:buNone/>
            </a:pPr>
            <a:r>
              <a:rPr b="1" lang="en-US" sz="1000">
                <a:solidFill>
                  <a:srgbClr val="3B82F6"/>
                </a:solidFill>
                <a:latin typeface="Calibri"/>
                <a:ea typeface="Calibri"/>
                <a:cs typeface="Calibri"/>
                <a:sym typeface="Calibri"/>
              </a:rPr>
              <a:t>Result: </a:t>
            </a:r>
            <a:r>
              <a:rPr lang="en-US" sz="1000">
                <a:solidFill>
                  <a:srgbClr val="1E293B"/>
                </a:solidFill>
                <a:latin typeface="Calibri"/>
                <a:ea typeface="Calibri"/>
                <a:cs typeface="Calibri"/>
                <a:sym typeface="Calibri"/>
              </a:rPr>
              <a:t>Improved classification accuracy and reduced time-to-hire</a:t>
            </a:r>
            <a:endParaRPr sz="1000">
              <a:solidFill>
                <a:schemeClr val="dk1"/>
              </a:solidFill>
              <a:latin typeface="Calibri"/>
              <a:ea typeface="Calibri"/>
              <a:cs typeface="Calibri"/>
              <a:sym typeface="Calibri"/>
            </a:endParaRPr>
          </a:p>
        </p:txBody>
      </p:sp>
      <p:sp>
        <p:nvSpPr>
          <p:cNvPr id="75" name="Google Shape;75;p3"/>
          <p:cNvSpPr/>
          <p:nvPr/>
        </p:nvSpPr>
        <p:spPr>
          <a:xfrm>
            <a:off x="2423160" y="4544568"/>
            <a:ext cx="6126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950"/>
              <a:buFont typeface="Calibri"/>
              <a:buNone/>
            </a:pPr>
            <a:r>
              <a:rPr b="1" lang="en-US" sz="950">
                <a:solidFill>
                  <a:srgbClr val="F59E0B"/>
                </a:solidFill>
                <a:latin typeface="Calibri"/>
                <a:ea typeface="Calibri"/>
                <a:cs typeface="Calibri"/>
                <a:sym typeface="Calibri"/>
              </a:rPr>
              <a:t>Gap: </a:t>
            </a:r>
            <a:r>
              <a:rPr i="1" lang="en-US" sz="950">
                <a:solidFill>
                  <a:srgbClr val="64748B"/>
                </a:solidFill>
                <a:latin typeface="Calibri"/>
                <a:ea typeface="Calibri"/>
                <a:cs typeface="Calibri"/>
                <a:sym typeface="Calibri"/>
              </a:rPr>
              <a:t>Lacks bias detection, fairness evaluation, and applicant feedback mechanisms</a:t>
            </a:r>
            <a:endParaRPr sz="95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0" name="Shape 80"/>
        <p:cNvGrpSpPr/>
        <p:nvPr/>
      </p:nvGrpSpPr>
      <p:grpSpPr>
        <a:xfrm>
          <a:off x="0" y="0"/>
          <a:ext cx="0" cy="0"/>
          <a:chOff x="0" y="0"/>
          <a:chExt cx="0" cy="0"/>
        </a:xfrm>
      </p:grpSpPr>
      <p:sp>
        <p:nvSpPr>
          <p:cNvPr id="81" name="Google Shape;81;p4"/>
          <p:cNvSpPr/>
          <p:nvPr/>
        </p:nvSpPr>
        <p:spPr>
          <a:xfrm>
            <a:off x="457200" y="228600"/>
            <a:ext cx="2926080" cy="329184"/>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
          <p:cNvSpPr/>
          <p:nvPr/>
        </p:nvSpPr>
        <p:spPr>
          <a:xfrm>
            <a:off x="457200" y="228600"/>
            <a:ext cx="292608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LITERATURE REVIEW &amp; RELATED WORKS</a:t>
            </a:r>
            <a:endParaRPr sz="950">
              <a:solidFill>
                <a:schemeClr val="dk1"/>
              </a:solidFill>
              <a:latin typeface="Calibri"/>
              <a:ea typeface="Calibri"/>
              <a:cs typeface="Calibri"/>
              <a:sym typeface="Calibri"/>
            </a:endParaRPr>
          </a:p>
        </p:txBody>
      </p:sp>
      <p:sp>
        <p:nvSpPr>
          <p:cNvPr id="83" name="Google Shape;83;p4"/>
          <p:cNvSpPr/>
          <p:nvPr/>
        </p:nvSpPr>
        <p:spPr>
          <a:xfrm>
            <a:off x="457200" y="658368"/>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800"/>
              <a:buFont typeface="Calibri"/>
              <a:buNone/>
            </a:pPr>
            <a:r>
              <a:rPr b="1" lang="en-US" sz="2800">
                <a:solidFill>
                  <a:srgbClr val="1B3A6B"/>
                </a:solidFill>
                <a:latin typeface="Calibri"/>
                <a:ea typeface="Calibri"/>
                <a:cs typeface="Calibri"/>
                <a:sym typeface="Calibri"/>
              </a:rPr>
              <a:t>Ontology, Knowledge Graphs &amp; Semantic Matching</a:t>
            </a:r>
            <a:endParaRPr sz="2800">
              <a:solidFill>
                <a:schemeClr val="dk1"/>
              </a:solidFill>
              <a:latin typeface="Calibri"/>
              <a:ea typeface="Calibri"/>
              <a:cs typeface="Calibri"/>
              <a:sym typeface="Calibri"/>
            </a:endParaRPr>
          </a:p>
        </p:txBody>
      </p:sp>
      <p:sp>
        <p:nvSpPr>
          <p:cNvPr id="84" name="Google Shape;84;p4"/>
          <p:cNvSpPr/>
          <p:nvPr/>
        </p:nvSpPr>
        <p:spPr>
          <a:xfrm>
            <a:off x="457200" y="1691640"/>
            <a:ext cx="8229600" cy="1024128"/>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457200" y="1691640"/>
            <a:ext cx="109728" cy="1024128"/>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658368" y="1764792"/>
            <a:ext cx="1737360" cy="256032"/>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658368" y="1764792"/>
            <a:ext cx="17373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Anh Chi Tuan et al. (2024)</a:t>
            </a:r>
            <a:endParaRPr sz="900">
              <a:solidFill>
                <a:schemeClr val="dk1"/>
              </a:solidFill>
              <a:latin typeface="Calibri"/>
              <a:ea typeface="Calibri"/>
              <a:cs typeface="Calibri"/>
              <a:sym typeface="Calibri"/>
            </a:endParaRPr>
          </a:p>
        </p:txBody>
      </p:sp>
      <p:sp>
        <p:nvSpPr>
          <p:cNvPr id="88" name="Google Shape;88;p4"/>
          <p:cNvSpPr/>
          <p:nvPr/>
        </p:nvSpPr>
        <p:spPr>
          <a:xfrm>
            <a:off x="2496312" y="1755648"/>
            <a:ext cx="6080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1" lang="en-US" sz="1050">
                <a:solidFill>
                  <a:srgbClr val="1E293B"/>
                </a:solidFill>
                <a:latin typeface="Calibri"/>
                <a:ea typeface="Calibri"/>
                <a:cs typeface="Calibri"/>
                <a:sym typeface="Calibri"/>
              </a:rPr>
              <a:t>Ontology and Its Applications in Skills Matching in Job Recruitment</a:t>
            </a:r>
            <a:endParaRPr sz="1050">
              <a:solidFill>
                <a:schemeClr val="dk1"/>
              </a:solidFill>
              <a:latin typeface="Calibri"/>
              <a:ea typeface="Calibri"/>
              <a:cs typeface="Calibri"/>
              <a:sym typeface="Calibri"/>
            </a:endParaRPr>
          </a:p>
        </p:txBody>
      </p:sp>
      <p:sp>
        <p:nvSpPr>
          <p:cNvPr id="89" name="Google Shape;89;p4"/>
          <p:cNvSpPr/>
          <p:nvPr/>
        </p:nvSpPr>
        <p:spPr>
          <a:xfrm>
            <a:off x="2496312" y="2039112"/>
            <a:ext cx="6080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1000"/>
              <a:buFont typeface="Calibri"/>
              <a:buNone/>
            </a:pPr>
            <a:r>
              <a:rPr b="1" lang="en-US" sz="1000">
                <a:solidFill>
                  <a:srgbClr val="1B3A6B"/>
                </a:solidFill>
                <a:latin typeface="Calibri"/>
                <a:ea typeface="Calibri"/>
                <a:cs typeface="Calibri"/>
                <a:sym typeface="Calibri"/>
              </a:rPr>
              <a:t>Method: </a:t>
            </a:r>
            <a:r>
              <a:rPr lang="en-US" sz="1000">
                <a:solidFill>
                  <a:srgbClr val="1E293B"/>
                </a:solidFill>
                <a:latin typeface="Calibri"/>
                <a:ea typeface="Calibri"/>
                <a:cs typeface="Calibri"/>
                <a:sym typeface="Calibri"/>
              </a:rPr>
              <a:t>Skills ontology construction + SPARQL semantic matching</a:t>
            </a:r>
            <a:endParaRPr/>
          </a:p>
          <a:p>
            <a:pPr indent="0" lvl="0" marL="0" marR="0" rtl="0" algn="l">
              <a:spcBef>
                <a:spcPts val="0"/>
              </a:spcBef>
              <a:spcAft>
                <a:spcPts val="0"/>
              </a:spcAft>
              <a:buClr>
                <a:srgbClr val="1B3A6B"/>
              </a:buClr>
              <a:buSzPts val="1000"/>
              <a:buFont typeface="Calibri"/>
              <a:buNone/>
            </a:pPr>
            <a:r>
              <a:rPr b="1" lang="en-US" sz="1000">
                <a:solidFill>
                  <a:srgbClr val="1B3A6B"/>
                </a:solidFill>
                <a:latin typeface="Calibri"/>
                <a:ea typeface="Calibri"/>
                <a:cs typeface="Calibri"/>
                <a:sym typeface="Calibri"/>
              </a:rPr>
              <a:t>Result: </a:t>
            </a:r>
            <a:r>
              <a:rPr lang="en-US" sz="1000">
                <a:solidFill>
                  <a:srgbClr val="1E293B"/>
                </a:solidFill>
                <a:latin typeface="Calibri"/>
                <a:ea typeface="Calibri"/>
                <a:cs typeface="Calibri"/>
                <a:sym typeface="Calibri"/>
              </a:rPr>
              <a:t>1–5% performance enhancement over competing models; deep skills comprehension beyond keywords</a:t>
            </a:r>
            <a:endParaRPr sz="1000">
              <a:solidFill>
                <a:schemeClr val="dk1"/>
              </a:solidFill>
              <a:latin typeface="Calibri"/>
              <a:ea typeface="Calibri"/>
              <a:cs typeface="Calibri"/>
              <a:sym typeface="Calibri"/>
            </a:endParaRPr>
          </a:p>
        </p:txBody>
      </p:sp>
      <p:sp>
        <p:nvSpPr>
          <p:cNvPr id="90" name="Google Shape;90;p4"/>
          <p:cNvSpPr/>
          <p:nvPr/>
        </p:nvSpPr>
        <p:spPr>
          <a:xfrm>
            <a:off x="2496312" y="2350008"/>
            <a:ext cx="6080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950"/>
              <a:buFont typeface="Calibri"/>
              <a:buNone/>
            </a:pPr>
            <a:r>
              <a:rPr b="1" lang="en-US" sz="950">
                <a:solidFill>
                  <a:srgbClr val="F59E0B"/>
                </a:solidFill>
                <a:latin typeface="Calibri"/>
                <a:ea typeface="Calibri"/>
                <a:cs typeface="Calibri"/>
                <a:sym typeface="Calibri"/>
              </a:rPr>
              <a:t>Gap: </a:t>
            </a:r>
            <a:r>
              <a:rPr i="1" lang="en-US" sz="950">
                <a:solidFill>
                  <a:srgbClr val="64748B"/>
                </a:solidFill>
                <a:latin typeface="Calibri"/>
                <a:ea typeface="Calibri"/>
                <a:cs typeface="Calibri"/>
                <a:sym typeface="Calibri"/>
              </a:rPr>
              <a:t>No dynamic ontology updates for new skills; no bias control or candidate feedback</a:t>
            </a:r>
            <a:endParaRPr sz="950">
              <a:solidFill>
                <a:schemeClr val="dk1"/>
              </a:solidFill>
              <a:latin typeface="Calibri"/>
              <a:ea typeface="Calibri"/>
              <a:cs typeface="Calibri"/>
              <a:sym typeface="Calibri"/>
            </a:endParaRPr>
          </a:p>
        </p:txBody>
      </p:sp>
      <p:sp>
        <p:nvSpPr>
          <p:cNvPr id="91" name="Google Shape;91;p4"/>
          <p:cNvSpPr/>
          <p:nvPr/>
        </p:nvSpPr>
        <p:spPr>
          <a:xfrm>
            <a:off x="457200" y="2788920"/>
            <a:ext cx="8229600" cy="1024128"/>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457200" y="2788920"/>
            <a:ext cx="109728" cy="1024128"/>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658368" y="2862072"/>
            <a:ext cx="1737360" cy="256032"/>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658368" y="2862072"/>
            <a:ext cx="17373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MIDA Conference (2024)</a:t>
            </a:r>
            <a:endParaRPr sz="900">
              <a:solidFill>
                <a:schemeClr val="dk1"/>
              </a:solidFill>
              <a:latin typeface="Calibri"/>
              <a:ea typeface="Calibri"/>
              <a:cs typeface="Calibri"/>
              <a:sym typeface="Calibri"/>
            </a:endParaRPr>
          </a:p>
        </p:txBody>
      </p:sp>
      <p:sp>
        <p:nvSpPr>
          <p:cNvPr id="95" name="Google Shape;95;p4"/>
          <p:cNvSpPr/>
          <p:nvPr/>
        </p:nvSpPr>
        <p:spPr>
          <a:xfrm>
            <a:off x="2496312" y="2852928"/>
            <a:ext cx="6080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1" lang="en-US" sz="1050">
                <a:solidFill>
                  <a:srgbClr val="1E293B"/>
                </a:solidFill>
                <a:latin typeface="Calibri"/>
                <a:ea typeface="Calibri"/>
                <a:cs typeface="Calibri"/>
                <a:sym typeface="Calibri"/>
              </a:rPr>
              <a:t>Intelligent Recruitment DSS Combining Transformer Model and Knowledge Graph</a:t>
            </a:r>
            <a:endParaRPr sz="1050">
              <a:solidFill>
                <a:schemeClr val="dk1"/>
              </a:solidFill>
              <a:latin typeface="Calibri"/>
              <a:ea typeface="Calibri"/>
              <a:cs typeface="Calibri"/>
              <a:sym typeface="Calibri"/>
            </a:endParaRPr>
          </a:p>
        </p:txBody>
      </p:sp>
      <p:sp>
        <p:nvSpPr>
          <p:cNvPr id="96" name="Google Shape;96;p4"/>
          <p:cNvSpPr/>
          <p:nvPr/>
        </p:nvSpPr>
        <p:spPr>
          <a:xfrm>
            <a:off x="2496312" y="3136392"/>
            <a:ext cx="6080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00"/>
              <a:buFont typeface="Calibri"/>
              <a:buNone/>
            </a:pPr>
            <a:r>
              <a:rPr b="1" lang="en-US" sz="1000">
                <a:solidFill>
                  <a:srgbClr val="0D9488"/>
                </a:solidFill>
                <a:latin typeface="Calibri"/>
                <a:ea typeface="Calibri"/>
                <a:cs typeface="Calibri"/>
                <a:sym typeface="Calibri"/>
              </a:rPr>
              <a:t>Method: </a:t>
            </a:r>
            <a:r>
              <a:rPr lang="en-US" sz="1000">
                <a:solidFill>
                  <a:srgbClr val="1E293B"/>
                </a:solidFill>
                <a:latin typeface="Calibri"/>
                <a:ea typeface="Calibri"/>
                <a:cs typeface="Calibri"/>
                <a:sym typeface="Calibri"/>
              </a:rPr>
              <a:t>Transformer model integrated with a domain-specific knowledge graph</a:t>
            </a:r>
            <a:endParaRPr/>
          </a:p>
          <a:p>
            <a:pPr indent="0" lvl="0" marL="0" marR="0" rtl="0" algn="l">
              <a:spcBef>
                <a:spcPts val="0"/>
              </a:spcBef>
              <a:spcAft>
                <a:spcPts val="0"/>
              </a:spcAft>
              <a:buClr>
                <a:srgbClr val="0D9488"/>
              </a:buClr>
              <a:buSzPts val="1000"/>
              <a:buFont typeface="Calibri"/>
              <a:buNone/>
            </a:pPr>
            <a:r>
              <a:rPr b="1" lang="en-US" sz="1000">
                <a:solidFill>
                  <a:srgbClr val="0D9488"/>
                </a:solidFill>
                <a:latin typeface="Calibri"/>
                <a:ea typeface="Calibri"/>
                <a:cs typeface="Calibri"/>
                <a:sym typeface="Calibri"/>
              </a:rPr>
              <a:t>Result: </a:t>
            </a:r>
            <a:r>
              <a:rPr lang="en-US" sz="1000">
                <a:solidFill>
                  <a:srgbClr val="1E293B"/>
                </a:solidFill>
                <a:latin typeface="Calibri"/>
                <a:ea typeface="Calibri"/>
                <a:cs typeface="Calibri"/>
                <a:sym typeface="Calibri"/>
              </a:rPr>
              <a:t>Improved semantic matching between job requirements and candidate competencies</a:t>
            </a:r>
            <a:endParaRPr sz="1000">
              <a:solidFill>
                <a:schemeClr val="dk1"/>
              </a:solidFill>
              <a:latin typeface="Calibri"/>
              <a:ea typeface="Calibri"/>
              <a:cs typeface="Calibri"/>
              <a:sym typeface="Calibri"/>
            </a:endParaRPr>
          </a:p>
        </p:txBody>
      </p:sp>
      <p:sp>
        <p:nvSpPr>
          <p:cNvPr id="97" name="Google Shape;97;p4"/>
          <p:cNvSpPr/>
          <p:nvPr/>
        </p:nvSpPr>
        <p:spPr>
          <a:xfrm>
            <a:off x="2496312" y="3447288"/>
            <a:ext cx="6080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950"/>
              <a:buFont typeface="Calibri"/>
              <a:buNone/>
            </a:pPr>
            <a:r>
              <a:rPr b="1" lang="en-US" sz="950">
                <a:solidFill>
                  <a:srgbClr val="F59E0B"/>
                </a:solidFill>
                <a:latin typeface="Calibri"/>
                <a:ea typeface="Calibri"/>
                <a:cs typeface="Calibri"/>
                <a:sym typeface="Calibri"/>
              </a:rPr>
              <a:t>Gap: </a:t>
            </a:r>
            <a:r>
              <a:rPr i="1" lang="en-US" sz="950">
                <a:solidFill>
                  <a:srgbClr val="64748B"/>
                </a:solidFill>
                <a:latin typeface="Calibri"/>
                <a:ea typeface="Calibri"/>
                <a:cs typeface="Calibri"/>
                <a:sym typeface="Calibri"/>
              </a:rPr>
              <a:t>Limited cross-industry scalability; no applicant fairness or feedback components</a:t>
            </a:r>
            <a:endParaRPr sz="950">
              <a:solidFill>
                <a:schemeClr val="dk1"/>
              </a:solidFill>
              <a:latin typeface="Calibri"/>
              <a:ea typeface="Calibri"/>
              <a:cs typeface="Calibri"/>
              <a:sym typeface="Calibri"/>
            </a:endParaRPr>
          </a:p>
        </p:txBody>
      </p:sp>
      <p:sp>
        <p:nvSpPr>
          <p:cNvPr id="98" name="Google Shape;98;p4"/>
          <p:cNvSpPr/>
          <p:nvPr/>
        </p:nvSpPr>
        <p:spPr>
          <a:xfrm>
            <a:off x="457200" y="3886200"/>
            <a:ext cx="8229600" cy="1024128"/>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457200" y="3886200"/>
            <a:ext cx="109728" cy="1024128"/>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658368" y="3959352"/>
            <a:ext cx="1737360" cy="256032"/>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658368" y="3959352"/>
            <a:ext cx="17373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Zhang et al. (2024)</a:t>
            </a:r>
            <a:endParaRPr sz="900">
              <a:solidFill>
                <a:schemeClr val="dk1"/>
              </a:solidFill>
              <a:latin typeface="Calibri"/>
              <a:ea typeface="Calibri"/>
              <a:cs typeface="Calibri"/>
              <a:sym typeface="Calibri"/>
            </a:endParaRPr>
          </a:p>
        </p:txBody>
      </p:sp>
      <p:sp>
        <p:nvSpPr>
          <p:cNvPr id="102" name="Google Shape;102;p4"/>
          <p:cNvSpPr/>
          <p:nvPr/>
        </p:nvSpPr>
        <p:spPr>
          <a:xfrm>
            <a:off x="2496312" y="3950208"/>
            <a:ext cx="6080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1" lang="en-US" sz="1050">
                <a:solidFill>
                  <a:srgbClr val="1E293B"/>
                </a:solidFill>
                <a:latin typeface="Calibri"/>
                <a:ea typeface="Calibri"/>
                <a:cs typeface="Calibri"/>
                <a:sym typeface="Calibri"/>
              </a:rPr>
              <a:t>Natural Language Processing (NLP) in AI-Driven Recruitment Systems</a:t>
            </a:r>
            <a:endParaRPr sz="1050">
              <a:solidFill>
                <a:schemeClr val="dk1"/>
              </a:solidFill>
              <a:latin typeface="Calibri"/>
              <a:ea typeface="Calibri"/>
              <a:cs typeface="Calibri"/>
              <a:sym typeface="Calibri"/>
            </a:endParaRPr>
          </a:p>
        </p:txBody>
      </p:sp>
      <p:sp>
        <p:nvSpPr>
          <p:cNvPr id="103" name="Google Shape;103;p4"/>
          <p:cNvSpPr/>
          <p:nvPr/>
        </p:nvSpPr>
        <p:spPr>
          <a:xfrm>
            <a:off x="2496312" y="4233672"/>
            <a:ext cx="6080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1000"/>
              <a:buFont typeface="Calibri"/>
              <a:buNone/>
            </a:pPr>
            <a:r>
              <a:rPr b="1" lang="en-US" sz="1000">
                <a:solidFill>
                  <a:srgbClr val="3B82F6"/>
                </a:solidFill>
                <a:latin typeface="Calibri"/>
                <a:ea typeface="Calibri"/>
                <a:cs typeface="Calibri"/>
                <a:sym typeface="Calibri"/>
              </a:rPr>
              <a:t>Method: </a:t>
            </a:r>
            <a:r>
              <a:rPr lang="en-US" sz="1000">
                <a:solidFill>
                  <a:srgbClr val="1E293B"/>
                </a:solidFill>
                <a:latin typeface="Calibri"/>
                <a:ea typeface="Calibri"/>
                <a:cs typeface="Calibri"/>
                <a:sym typeface="Calibri"/>
              </a:rPr>
              <a:t>GPT-4 Embeddings + Hierarchical Graph Neural Networks + Bilateral Matching</a:t>
            </a:r>
            <a:endParaRPr/>
          </a:p>
          <a:p>
            <a:pPr indent="0" lvl="0" marL="0" marR="0" rtl="0" algn="l">
              <a:spcBef>
                <a:spcPts val="0"/>
              </a:spcBef>
              <a:spcAft>
                <a:spcPts val="0"/>
              </a:spcAft>
              <a:buClr>
                <a:srgbClr val="3B82F6"/>
              </a:buClr>
              <a:buSzPts val="1000"/>
              <a:buFont typeface="Calibri"/>
              <a:buNone/>
            </a:pPr>
            <a:r>
              <a:rPr b="1" lang="en-US" sz="1000">
                <a:solidFill>
                  <a:srgbClr val="3B82F6"/>
                </a:solidFill>
                <a:latin typeface="Calibri"/>
                <a:ea typeface="Calibri"/>
                <a:cs typeface="Calibri"/>
                <a:sym typeface="Calibri"/>
              </a:rPr>
              <a:t>Result: </a:t>
            </a:r>
            <a:r>
              <a:rPr lang="en-US" sz="1000">
                <a:solidFill>
                  <a:srgbClr val="1E293B"/>
                </a:solidFill>
                <a:latin typeface="Calibri"/>
                <a:ea typeface="Calibri"/>
                <a:cs typeface="Calibri"/>
                <a:sym typeface="Calibri"/>
              </a:rPr>
              <a:t>F1 score of 0.91, outperforming cosine similarity (0.70) and SuperGlue (0.88)</a:t>
            </a:r>
            <a:endParaRPr sz="1000">
              <a:solidFill>
                <a:schemeClr val="dk1"/>
              </a:solidFill>
              <a:latin typeface="Calibri"/>
              <a:ea typeface="Calibri"/>
              <a:cs typeface="Calibri"/>
              <a:sym typeface="Calibri"/>
            </a:endParaRPr>
          </a:p>
        </p:txBody>
      </p:sp>
      <p:sp>
        <p:nvSpPr>
          <p:cNvPr id="104" name="Google Shape;104;p4"/>
          <p:cNvSpPr/>
          <p:nvPr/>
        </p:nvSpPr>
        <p:spPr>
          <a:xfrm>
            <a:off x="2496312" y="4544568"/>
            <a:ext cx="6080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950"/>
              <a:buFont typeface="Calibri"/>
              <a:buNone/>
            </a:pPr>
            <a:r>
              <a:rPr b="1" lang="en-US" sz="950">
                <a:solidFill>
                  <a:srgbClr val="F59E0B"/>
                </a:solidFill>
                <a:latin typeface="Calibri"/>
                <a:ea typeface="Calibri"/>
                <a:cs typeface="Calibri"/>
                <a:sym typeface="Calibri"/>
              </a:rPr>
              <a:t>Gap: </a:t>
            </a:r>
            <a:r>
              <a:rPr i="1" lang="en-US" sz="950">
                <a:solidFill>
                  <a:srgbClr val="64748B"/>
                </a:solidFill>
                <a:latin typeface="Calibri"/>
                <a:ea typeface="Calibri"/>
                <a:cs typeface="Calibri"/>
                <a:sym typeface="Calibri"/>
              </a:rPr>
              <a:t>Computationally expensive; lacks bias auditing and applicant-facing explanation output</a:t>
            </a:r>
            <a:endParaRPr sz="95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9" name="Shape 109"/>
        <p:cNvGrpSpPr/>
        <p:nvPr/>
      </p:nvGrpSpPr>
      <p:grpSpPr>
        <a:xfrm>
          <a:off x="0" y="0"/>
          <a:ext cx="0" cy="0"/>
          <a:chOff x="0" y="0"/>
          <a:chExt cx="0" cy="0"/>
        </a:xfrm>
      </p:grpSpPr>
      <p:sp>
        <p:nvSpPr>
          <p:cNvPr id="110" name="Google Shape;110;p5"/>
          <p:cNvSpPr/>
          <p:nvPr/>
        </p:nvSpPr>
        <p:spPr>
          <a:xfrm>
            <a:off x="457200" y="228600"/>
            <a:ext cx="2926080" cy="329184"/>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457200" y="228600"/>
            <a:ext cx="292608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LITERATURE REVIEW &amp; RELATED WORKS</a:t>
            </a:r>
            <a:endParaRPr sz="950">
              <a:solidFill>
                <a:schemeClr val="dk1"/>
              </a:solidFill>
              <a:latin typeface="Calibri"/>
              <a:ea typeface="Calibri"/>
              <a:cs typeface="Calibri"/>
              <a:sym typeface="Calibri"/>
            </a:endParaRPr>
          </a:p>
        </p:txBody>
      </p:sp>
      <p:sp>
        <p:nvSpPr>
          <p:cNvPr id="112" name="Google Shape;112;p5"/>
          <p:cNvSpPr/>
          <p:nvPr/>
        </p:nvSpPr>
        <p:spPr>
          <a:xfrm>
            <a:off x="457200" y="658368"/>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800"/>
              <a:buFont typeface="Calibri"/>
              <a:buNone/>
            </a:pPr>
            <a:r>
              <a:rPr b="1" lang="en-US" sz="2800">
                <a:solidFill>
                  <a:srgbClr val="1B3A6B"/>
                </a:solidFill>
                <a:latin typeface="Calibri"/>
                <a:ea typeface="Calibri"/>
                <a:cs typeface="Calibri"/>
                <a:sym typeface="Calibri"/>
              </a:rPr>
              <a:t>Bias, Fairness &amp; Explainability in AI Recruitment</a:t>
            </a:r>
            <a:endParaRPr sz="2800">
              <a:solidFill>
                <a:schemeClr val="dk1"/>
              </a:solidFill>
              <a:latin typeface="Calibri"/>
              <a:ea typeface="Calibri"/>
              <a:cs typeface="Calibri"/>
              <a:sym typeface="Calibri"/>
            </a:endParaRPr>
          </a:p>
        </p:txBody>
      </p:sp>
      <p:sp>
        <p:nvSpPr>
          <p:cNvPr id="113" name="Google Shape;113;p5"/>
          <p:cNvSpPr/>
          <p:nvPr/>
        </p:nvSpPr>
        <p:spPr>
          <a:xfrm>
            <a:off x="457200" y="1691640"/>
            <a:ext cx="8229600" cy="1024128"/>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457200" y="1691640"/>
            <a:ext cx="109728" cy="1024128"/>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658368" y="1764792"/>
            <a:ext cx="1600200" cy="256032"/>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658368" y="1764792"/>
            <a:ext cx="16002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Salford (2024)</a:t>
            </a:r>
            <a:endParaRPr sz="900">
              <a:solidFill>
                <a:schemeClr val="dk1"/>
              </a:solidFill>
              <a:latin typeface="Calibri"/>
              <a:ea typeface="Calibri"/>
              <a:cs typeface="Calibri"/>
              <a:sym typeface="Calibri"/>
            </a:endParaRPr>
          </a:p>
        </p:txBody>
      </p:sp>
      <p:sp>
        <p:nvSpPr>
          <p:cNvPr id="117" name="Google Shape;117;p5"/>
          <p:cNvSpPr/>
          <p:nvPr/>
        </p:nvSpPr>
        <p:spPr>
          <a:xfrm>
            <a:off x="2377440" y="1755648"/>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1" lang="en-US" sz="1050">
                <a:solidFill>
                  <a:srgbClr val="1E293B"/>
                </a:solidFill>
                <a:latin typeface="Calibri"/>
                <a:ea typeface="Calibri"/>
                <a:cs typeface="Calibri"/>
                <a:sym typeface="Calibri"/>
              </a:rPr>
              <a:t>A Comprehensive Review of AI Techniques for Addressing Algorithmic Bias in Job Hiring</a:t>
            </a:r>
            <a:endParaRPr sz="1050">
              <a:solidFill>
                <a:schemeClr val="dk1"/>
              </a:solidFill>
              <a:latin typeface="Calibri"/>
              <a:ea typeface="Calibri"/>
              <a:cs typeface="Calibri"/>
              <a:sym typeface="Calibri"/>
            </a:endParaRPr>
          </a:p>
        </p:txBody>
      </p:sp>
      <p:sp>
        <p:nvSpPr>
          <p:cNvPr id="118" name="Google Shape;118;p5"/>
          <p:cNvSpPr/>
          <p:nvPr/>
        </p:nvSpPr>
        <p:spPr>
          <a:xfrm>
            <a:off x="2377440" y="2039112"/>
            <a:ext cx="62179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1000"/>
              <a:buFont typeface="Calibri"/>
              <a:buNone/>
            </a:pPr>
            <a:r>
              <a:rPr b="1" lang="en-US" sz="1000">
                <a:solidFill>
                  <a:srgbClr val="1B3A6B"/>
                </a:solidFill>
                <a:latin typeface="Calibri"/>
                <a:ea typeface="Calibri"/>
                <a:cs typeface="Calibri"/>
                <a:sym typeface="Calibri"/>
              </a:rPr>
              <a:t>Method: </a:t>
            </a:r>
            <a:r>
              <a:rPr lang="en-US" sz="1000">
                <a:solidFill>
                  <a:srgbClr val="1E293B"/>
                </a:solidFill>
                <a:latin typeface="Calibri"/>
                <a:ea typeface="Calibri"/>
                <a:cs typeface="Calibri"/>
                <a:sym typeface="Calibri"/>
              </a:rPr>
              <a:t>Systematic review; vector space correction + data augmentation for bias mitigation</a:t>
            </a:r>
            <a:endParaRPr/>
          </a:p>
          <a:p>
            <a:pPr indent="0" lvl="0" marL="0" marR="0" rtl="0" algn="l">
              <a:spcBef>
                <a:spcPts val="0"/>
              </a:spcBef>
              <a:spcAft>
                <a:spcPts val="0"/>
              </a:spcAft>
              <a:buClr>
                <a:srgbClr val="1B3A6B"/>
              </a:buClr>
              <a:buSzPts val="1000"/>
              <a:buFont typeface="Calibri"/>
              <a:buNone/>
            </a:pPr>
            <a:r>
              <a:rPr b="1" lang="en-US" sz="1000">
                <a:solidFill>
                  <a:srgbClr val="1B3A6B"/>
                </a:solidFill>
                <a:latin typeface="Calibri"/>
                <a:ea typeface="Calibri"/>
                <a:cs typeface="Calibri"/>
                <a:sym typeface="Calibri"/>
              </a:rPr>
              <a:t>Result: </a:t>
            </a:r>
            <a:r>
              <a:rPr lang="en-US" sz="1000">
                <a:solidFill>
                  <a:srgbClr val="1E293B"/>
                </a:solidFill>
                <a:latin typeface="Calibri"/>
                <a:ea typeface="Calibri"/>
                <a:cs typeface="Calibri"/>
                <a:sym typeface="Calibri"/>
              </a:rPr>
              <a:t>NLP vector correction and data augmentation effectively reduce algorithmic bias in hiring</a:t>
            </a:r>
            <a:endParaRPr sz="1000">
              <a:solidFill>
                <a:schemeClr val="dk1"/>
              </a:solidFill>
              <a:latin typeface="Calibri"/>
              <a:ea typeface="Calibri"/>
              <a:cs typeface="Calibri"/>
              <a:sym typeface="Calibri"/>
            </a:endParaRPr>
          </a:p>
        </p:txBody>
      </p:sp>
      <p:sp>
        <p:nvSpPr>
          <p:cNvPr id="119" name="Google Shape;119;p5"/>
          <p:cNvSpPr/>
          <p:nvPr/>
        </p:nvSpPr>
        <p:spPr>
          <a:xfrm>
            <a:off x="2377440" y="2350008"/>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950"/>
              <a:buFont typeface="Calibri"/>
              <a:buNone/>
            </a:pPr>
            <a:r>
              <a:rPr b="1" lang="en-US" sz="950">
                <a:solidFill>
                  <a:srgbClr val="F59E0B"/>
                </a:solidFill>
                <a:latin typeface="Calibri"/>
                <a:ea typeface="Calibri"/>
                <a:cs typeface="Calibri"/>
                <a:sym typeface="Calibri"/>
              </a:rPr>
              <a:t>Gap: </a:t>
            </a:r>
            <a:r>
              <a:rPr i="1" lang="en-US" sz="950">
                <a:solidFill>
                  <a:srgbClr val="64748B"/>
                </a:solidFill>
                <a:latin typeface="Calibri"/>
                <a:ea typeface="Calibri"/>
                <a:cs typeface="Calibri"/>
                <a:sym typeface="Calibri"/>
              </a:rPr>
              <a:t>Intersectional bias (e.g. race + gender + country) remains significantly underexplored</a:t>
            </a:r>
            <a:endParaRPr sz="950">
              <a:solidFill>
                <a:schemeClr val="dk1"/>
              </a:solidFill>
              <a:latin typeface="Calibri"/>
              <a:ea typeface="Calibri"/>
              <a:cs typeface="Calibri"/>
              <a:sym typeface="Calibri"/>
            </a:endParaRPr>
          </a:p>
        </p:txBody>
      </p:sp>
      <p:sp>
        <p:nvSpPr>
          <p:cNvPr id="120" name="Google Shape;120;p5"/>
          <p:cNvSpPr/>
          <p:nvPr/>
        </p:nvSpPr>
        <p:spPr>
          <a:xfrm>
            <a:off x="457200" y="2788920"/>
            <a:ext cx="8229600" cy="1024128"/>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457200" y="2788920"/>
            <a:ext cx="109728" cy="1024128"/>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
          <p:cNvSpPr/>
          <p:nvPr/>
        </p:nvSpPr>
        <p:spPr>
          <a:xfrm>
            <a:off x="658368" y="2862072"/>
            <a:ext cx="1600200" cy="256032"/>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p:nvPr/>
        </p:nvSpPr>
        <p:spPr>
          <a:xfrm>
            <a:off x="658368" y="2862072"/>
            <a:ext cx="16002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Tandfonline (2025)</a:t>
            </a:r>
            <a:endParaRPr sz="900">
              <a:solidFill>
                <a:schemeClr val="dk1"/>
              </a:solidFill>
              <a:latin typeface="Calibri"/>
              <a:ea typeface="Calibri"/>
              <a:cs typeface="Calibri"/>
              <a:sym typeface="Calibri"/>
            </a:endParaRPr>
          </a:p>
        </p:txBody>
      </p:sp>
      <p:sp>
        <p:nvSpPr>
          <p:cNvPr id="124" name="Google Shape;124;p5"/>
          <p:cNvSpPr/>
          <p:nvPr/>
        </p:nvSpPr>
        <p:spPr>
          <a:xfrm>
            <a:off x="2377440" y="2852928"/>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1" lang="en-US" sz="1050">
                <a:solidFill>
                  <a:srgbClr val="1E293B"/>
                </a:solidFill>
                <a:latin typeface="Calibri"/>
                <a:ea typeface="Calibri"/>
                <a:cs typeface="Calibri"/>
                <a:sym typeface="Calibri"/>
              </a:rPr>
              <a:t>Explainable AI in the Talent Recruitment Process: A Literature Review</a:t>
            </a:r>
            <a:endParaRPr sz="1050">
              <a:solidFill>
                <a:schemeClr val="dk1"/>
              </a:solidFill>
              <a:latin typeface="Calibri"/>
              <a:ea typeface="Calibri"/>
              <a:cs typeface="Calibri"/>
              <a:sym typeface="Calibri"/>
            </a:endParaRPr>
          </a:p>
        </p:txBody>
      </p:sp>
      <p:sp>
        <p:nvSpPr>
          <p:cNvPr id="125" name="Google Shape;125;p5"/>
          <p:cNvSpPr/>
          <p:nvPr/>
        </p:nvSpPr>
        <p:spPr>
          <a:xfrm>
            <a:off x="2377440" y="3136392"/>
            <a:ext cx="62179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00"/>
              <a:buFont typeface="Calibri"/>
              <a:buNone/>
            </a:pPr>
            <a:r>
              <a:rPr b="1" lang="en-US" sz="1000">
                <a:solidFill>
                  <a:srgbClr val="0D9488"/>
                </a:solidFill>
                <a:latin typeface="Calibri"/>
                <a:ea typeface="Calibri"/>
                <a:cs typeface="Calibri"/>
                <a:sym typeface="Calibri"/>
              </a:rPr>
              <a:t>Method: </a:t>
            </a:r>
            <a:r>
              <a:rPr lang="en-US" sz="1000">
                <a:solidFill>
                  <a:srgbClr val="1E293B"/>
                </a:solidFill>
                <a:latin typeface="Calibri"/>
                <a:ea typeface="Calibri"/>
                <a:cs typeface="Calibri"/>
                <a:sym typeface="Calibri"/>
              </a:rPr>
              <a:t>Systematic review of XAI: LIME, SHAP, Knowledge Graphs, Causal Reasoning</a:t>
            </a:r>
            <a:endParaRPr/>
          </a:p>
          <a:p>
            <a:pPr indent="0" lvl="0" marL="0" marR="0" rtl="0" algn="l">
              <a:spcBef>
                <a:spcPts val="0"/>
              </a:spcBef>
              <a:spcAft>
                <a:spcPts val="0"/>
              </a:spcAft>
              <a:buClr>
                <a:srgbClr val="0D9488"/>
              </a:buClr>
              <a:buSzPts val="1000"/>
              <a:buFont typeface="Calibri"/>
              <a:buNone/>
            </a:pPr>
            <a:r>
              <a:rPr b="1" lang="en-US" sz="1000">
                <a:solidFill>
                  <a:srgbClr val="0D9488"/>
                </a:solidFill>
                <a:latin typeface="Calibri"/>
                <a:ea typeface="Calibri"/>
                <a:cs typeface="Calibri"/>
                <a:sym typeface="Calibri"/>
              </a:rPr>
              <a:t>Result: </a:t>
            </a:r>
            <a:r>
              <a:rPr lang="en-US" sz="1000">
                <a:solidFill>
                  <a:srgbClr val="1E293B"/>
                </a:solidFill>
                <a:latin typeface="Calibri"/>
                <a:ea typeface="Calibri"/>
                <a:cs typeface="Calibri"/>
                <a:sym typeface="Calibri"/>
              </a:rPr>
              <a:t>XAI improved semantic understanding in resume parsing and interview evaluation</a:t>
            </a:r>
            <a:endParaRPr sz="1000">
              <a:solidFill>
                <a:schemeClr val="dk1"/>
              </a:solidFill>
              <a:latin typeface="Calibri"/>
              <a:ea typeface="Calibri"/>
              <a:cs typeface="Calibri"/>
              <a:sym typeface="Calibri"/>
            </a:endParaRPr>
          </a:p>
        </p:txBody>
      </p:sp>
      <p:sp>
        <p:nvSpPr>
          <p:cNvPr id="126" name="Google Shape;126;p5"/>
          <p:cNvSpPr/>
          <p:nvPr/>
        </p:nvSpPr>
        <p:spPr>
          <a:xfrm>
            <a:off x="2377440" y="3447288"/>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950"/>
              <a:buFont typeface="Calibri"/>
              <a:buNone/>
            </a:pPr>
            <a:r>
              <a:rPr b="1" lang="en-US" sz="950">
                <a:solidFill>
                  <a:srgbClr val="F59E0B"/>
                </a:solidFill>
                <a:latin typeface="Calibri"/>
                <a:ea typeface="Calibri"/>
                <a:cs typeface="Calibri"/>
                <a:sym typeface="Calibri"/>
              </a:rPr>
              <a:t>Gap: </a:t>
            </a:r>
            <a:r>
              <a:rPr i="1" lang="en-US" sz="950">
                <a:solidFill>
                  <a:srgbClr val="64748B"/>
                </a:solidFill>
                <a:latin typeface="Calibri"/>
                <a:ea typeface="Calibri"/>
                <a:cs typeface="Calibri"/>
                <a:sym typeface="Calibri"/>
              </a:rPr>
              <a:t>No applicant-facing feedback loop; post-deployment HR adoption studies are scarce</a:t>
            </a:r>
            <a:endParaRPr sz="950">
              <a:solidFill>
                <a:schemeClr val="dk1"/>
              </a:solidFill>
              <a:latin typeface="Calibri"/>
              <a:ea typeface="Calibri"/>
              <a:cs typeface="Calibri"/>
              <a:sym typeface="Calibri"/>
            </a:endParaRPr>
          </a:p>
        </p:txBody>
      </p:sp>
      <p:sp>
        <p:nvSpPr>
          <p:cNvPr id="127" name="Google Shape;127;p5"/>
          <p:cNvSpPr/>
          <p:nvPr/>
        </p:nvSpPr>
        <p:spPr>
          <a:xfrm>
            <a:off x="457200" y="3886200"/>
            <a:ext cx="8229600" cy="1024128"/>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5"/>
          <p:cNvSpPr/>
          <p:nvPr/>
        </p:nvSpPr>
        <p:spPr>
          <a:xfrm>
            <a:off x="457200" y="3886200"/>
            <a:ext cx="109728" cy="1024128"/>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658368" y="3959352"/>
            <a:ext cx="1600200" cy="256032"/>
          </a:xfrm>
          <a:prstGeom prst="rect">
            <a:avLst/>
          </a:prstGeom>
          <a:solidFill>
            <a:srgbClr val="3B82F6"/>
          </a:solidFill>
          <a:ln cap="flat" cmpd="sng" w="12700">
            <a:solidFill>
              <a:srgbClr val="3B82F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5"/>
          <p:cNvSpPr/>
          <p:nvPr/>
        </p:nvSpPr>
        <p:spPr>
          <a:xfrm>
            <a:off x="658368" y="3959352"/>
            <a:ext cx="16002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900">
                <a:solidFill>
                  <a:schemeClr val="lt1"/>
                </a:solidFill>
                <a:latin typeface="Calibri"/>
                <a:ea typeface="Calibri"/>
                <a:cs typeface="Calibri"/>
                <a:sym typeface="Calibri"/>
              </a:rPr>
              <a:t>Mujtaba and Mahapatra</a:t>
            </a:r>
            <a:r>
              <a:rPr lang="en-US" sz="900">
                <a:solidFill>
                  <a:srgbClr val="1E293B"/>
                </a:solidFill>
                <a:latin typeface="Calibri"/>
                <a:ea typeface="Calibri"/>
                <a:cs typeface="Calibri"/>
                <a:sym typeface="Calibri"/>
              </a:rPr>
              <a:t> </a:t>
            </a:r>
            <a:r>
              <a:rPr b="1" lang="en-US" sz="900">
                <a:solidFill>
                  <a:schemeClr val="lt1"/>
                </a:solidFill>
                <a:latin typeface="Calibri"/>
                <a:ea typeface="Calibri"/>
                <a:cs typeface="Calibri"/>
                <a:sym typeface="Calibri"/>
              </a:rPr>
              <a:t>(2024)</a:t>
            </a:r>
            <a:endParaRPr/>
          </a:p>
        </p:txBody>
      </p:sp>
      <p:sp>
        <p:nvSpPr>
          <p:cNvPr id="131" name="Google Shape;131;p5"/>
          <p:cNvSpPr/>
          <p:nvPr/>
        </p:nvSpPr>
        <p:spPr>
          <a:xfrm>
            <a:off x="2377440" y="3950208"/>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1" lang="en-US" sz="1050">
                <a:solidFill>
                  <a:srgbClr val="1E293B"/>
                </a:solidFill>
                <a:latin typeface="Calibri"/>
                <a:ea typeface="Calibri"/>
                <a:cs typeface="Calibri"/>
                <a:sym typeface="Calibri"/>
              </a:rPr>
              <a:t>Fairness in AI-Driven Recruitment: Challenges, Metrics, Methods &amp; Future Directions</a:t>
            </a:r>
            <a:endParaRPr sz="1050">
              <a:solidFill>
                <a:schemeClr val="dk1"/>
              </a:solidFill>
              <a:latin typeface="Calibri"/>
              <a:ea typeface="Calibri"/>
              <a:cs typeface="Calibri"/>
              <a:sym typeface="Calibri"/>
            </a:endParaRPr>
          </a:p>
        </p:txBody>
      </p:sp>
      <p:sp>
        <p:nvSpPr>
          <p:cNvPr id="132" name="Google Shape;132;p5"/>
          <p:cNvSpPr/>
          <p:nvPr/>
        </p:nvSpPr>
        <p:spPr>
          <a:xfrm>
            <a:off x="2377440" y="4233672"/>
            <a:ext cx="62179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1000"/>
              <a:buFont typeface="Calibri"/>
              <a:buNone/>
            </a:pPr>
            <a:r>
              <a:rPr b="1" lang="en-US" sz="1000">
                <a:solidFill>
                  <a:srgbClr val="3B82F6"/>
                </a:solidFill>
                <a:latin typeface="Calibri"/>
                <a:ea typeface="Calibri"/>
                <a:cs typeface="Calibri"/>
                <a:sym typeface="Calibri"/>
              </a:rPr>
              <a:t>Method: </a:t>
            </a:r>
            <a:r>
              <a:rPr lang="en-US" sz="1000">
                <a:solidFill>
                  <a:srgbClr val="1E293B"/>
                </a:solidFill>
                <a:latin typeface="Calibri"/>
                <a:ea typeface="Calibri"/>
                <a:cs typeface="Calibri"/>
                <a:sym typeface="Calibri"/>
              </a:rPr>
              <a:t>Comprehensive review of ML/DL fairness metrics and bias auditing tools</a:t>
            </a:r>
            <a:endParaRPr/>
          </a:p>
          <a:p>
            <a:pPr indent="0" lvl="0" marL="0" marR="0" rtl="0" algn="l">
              <a:spcBef>
                <a:spcPts val="0"/>
              </a:spcBef>
              <a:spcAft>
                <a:spcPts val="0"/>
              </a:spcAft>
              <a:buClr>
                <a:srgbClr val="3B82F6"/>
              </a:buClr>
              <a:buSzPts val="1000"/>
              <a:buFont typeface="Calibri"/>
              <a:buNone/>
            </a:pPr>
            <a:r>
              <a:rPr b="1" lang="en-US" sz="1000">
                <a:solidFill>
                  <a:srgbClr val="3B82F6"/>
                </a:solidFill>
                <a:latin typeface="Calibri"/>
                <a:ea typeface="Calibri"/>
                <a:cs typeface="Calibri"/>
                <a:sym typeface="Calibri"/>
              </a:rPr>
              <a:t>Result: </a:t>
            </a:r>
            <a:r>
              <a:rPr lang="en-US" sz="1000">
                <a:solidFill>
                  <a:srgbClr val="1E293B"/>
                </a:solidFill>
                <a:latin typeface="Calibri"/>
                <a:ea typeface="Calibri"/>
                <a:cs typeface="Calibri"/>
                <a:sym typeface="Calibri"/>
              </a:rPr>
              <a:t>Prevalent biases identified in ranking software and chatbot interactions</a:t>
            </a:r>
            <a:endParaRPr sz="1000">
              <a:solidFill>
                <a:schemeClr val="dk1"/>
              </a:solidFill>
              <a:latin typeface="Calibri"/>
              <a:ea typeface="Calibri"/>
              <a:cs typeface="Calibri"/>
              <a:sym typeface="Calibri"/>
            </a:endParaRPr>
          </a:p>
        </p:txBody>
      </p:sp>
      <p:sp>
        <p:nvSpPr>
          <p:cNvPr id="133" name="Google Shape;133;p5"/>
          <p:cNvSpPr/>
          <p:nvPr/>
        </p:nvSpPr>
        <p:spPr>
          <a:xfrm>
            <a:off x="2377440" y="4544568"/>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950"/>
              <a:buFont typeface="Calibri"/>
              <a:buNone/>
            </a:pPr>
            <a:r>
              <a:rPr b="1" lang="en-US" sz="950">
                <a:solidFill>
                  <a:srgbClr val="F59E0B"/>
                </a:solidFill>
                <a:latin typeface="Calibri"/>
                <a:ea typeface="Calibri"/>
                <a:cs typeface="Calibri"/>
                <a:sym typeface="Calibri"/>
              </a:rPr>
              <a:t>Gap: </a:t>
            </a:r>
            <a:r>
              <a:rPr i="1" lang="en-US" sz="950">
                <a:solidFill>
                  <a:srgbClr val="64748B"/>
                </a:solidFill>
                <a:latin typeface="Calibri"/>
                <a:ea typeface="Calibri"/>
                <a:cs typeface="Calibri"/>
                <a:sym typeface="Calibri"/>
              </a:rPr>
              <a:t>No universal fairness standard; individual vs. group fairness metrics often conflict; no feedback to rejected candidates</a:t>
            </a:r>
            <a:endParaRPr sz="9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8" name="Shape 138"/>
        <p:cNvGrpSpPr/>
        <p:nvPr/>
      </p:nvGrpSpPr>
      <p:grpSpPr>
        <a:xfrm>
          <a:off x="0" y="0"/>
          <a:ext cx="0" cy="0"/>
          <a:chOff x="0" y="0"/>
          <a:chExt cx="0" cy="0"/>
        </a:xfrm>
      </p:grpSpPr>
      <p:sp>
        <p:nvSpPr>
          <p:cNvPr id="139" name="Google Shape;139;p6"/>
          <p:cNvSpPr/>
          <p:nvPr/>
        </p:nvSpPr>
        <p:spPr>
          <a:xfrm>
            <a:off x="457200" y="228600"/>
            <a:ext cx="2926080" cy="329184"/>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
          <p:cNvSpPr/>
          <p:nvPr/>
        </p:nvSpPr>
        <p:spPr>
          <a:xfrm>
            <a:off x="457200" y="228600"/>
            <a:ext cx="292608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PROBLEM STATEMENT</a:t>
            </a:r>
            <a:endParaRPr sz="950">
              <a:solidFill>
                <a:schemeClr val="dk1"/>
              </a:solidFill>
              <a:latin typeface="Calibri"/>
              <a:ea typeface="Calibri"/>
              <a:cs typeface="Calibri"/>
              <a:sym typeface="Calibri"/>
            </a:endParaRPr>
          </a:p>
        </p:txBody>
      </p:sp>
      <p:sp>
        <p:nvSpPr>
          <p:cNvPr id="141" name="Google Shape;141;p6"/>
          <p:cNvSpPr/>
          <p:nvPr/>
        </p:nvSpPr>
        <p:spPr>
          <a:xfrm>
            <a:off x="457200" y="658368"/>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800"/>
              <a:buFont typeface="Calibri"/>
              <a:buNone/>
            </a:pPr>
            <a:r>
              <a:rPr b="1" lang="en-US" sz="2800">
                <a:solidFill>
                  <a:srgbClr val="1B3A6B"/>
                </a:solidFill>
                <a:latin typeface="Calibri"/>
                <a:ea typeface="Calibri"/>
                <a:cs typeface="Calibri"/>
                <a:sym typeface="Calibri"/>
              </a:rPr>
              <a:t>Problem Statement</a:t>
            </a:r>
            <a:endParaRPr sz="2800">
              <a:solidFill>
                <a:schemeClr val="dk1"/>
              </a:solidFill>
              <a:latin typeface="Calibri"/>
              <a:ea typeface="Calibri"/>
              <a:cs typeface="Calibri"/>
              <a:sym typeface="Calibri"/>
            </a:endParaRPr>
          </a:p>
        </p:txBody>
      </p:sp>
      <p:sp>
        <p:nvSpPr>
          <p:cNvPr id="142" name="Google Shape;142;p6"/>
          <p:cNvSpPr/>
          <p:nvPr/>
        </p:nvSpPr>
        <p:spPr>
          <a:xfrm>
            <a:off x="457200" y="1436975"/>
            <a:ext cx="8078400" cy="32934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646600" y="1807000"/>
            <a:ext cx="7629900" cy="2645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E293B"/>
              </a:buClr>
              <a:buSzPts val="1200"/>
              <a:buFont typeface="Calibri"/>
              <a:buNone/>
            </a:pPr>
            <a:r>
              <a:rPr lang="en-US" sz="1200">
                <a:solidFill>
                  <a:srgbClr val="1E293B"/>
                </a:solidFill>
                <a:latin typeface="Calibri"/>
                <a:ea typeface="Calibri"/>
                <a:cs typeface="Calibri"/>
                <a:sym typeface="Calibri"/>
              </a:rPr>
              <a:t>Despite advances in AI, recruitment processes remain manual, biased, and opaque. Candidates are often assessed not on merit, but on demographic and socioeconomic factors. Rejected applicants receive no feedback, leaving them no path to improvement.</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200"/>
              <a:buFont typeface="Calibri"/>
              <a:buNone/>
            </a:pPr>
            <a:r>
              <a:t/>
            </a:r>
            <a:endParaRPr sz="12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200"/>
              <a:buFont typeface="Calibri"/>
              <a:buNone/>
            </a:pPr>
            <a:r>
              <a:t/>
            </a:r>
            <a:endParaRPr sz="12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200"/>
              <a:buFont typeface="Calibri"/>
              <a:buNone/>
            </a:pPr>
            <a:r>
              <a:rPr lang="en-US" sz="1200">
                <a:solidFill>
                  <a:srgbClr val="1E293B"/>
                </a:solidFill>
                <a:latin typeface="Calibri"/>
                <a:ea typeface="Calibri"/>
                <a:cs typeface="Calibri"/>
                <a:sym typeface="Calibri"/>
              </a:rPr>
              <a:t>Conventional resume screening tools rely on rigid keyword matching and unvetted algorithms, leading to manual screening bottlenecks and systemic demographic bias. Furthermore, existing machine learning screening solutions function as opaque black boxes that output scores without interpretable rationales. Consequently, recruiters are unable to justify candidate rankings, identify qualification gaps, or ensure objective hiring decisions. </a:t>
            </a:r>
            <a:endParaRPr sz="12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200"/>
              <a:buFont typeface="Calibri"/>
              <a:buNone/>
            </a:pPr>
            <a:r>
              <a:t/>
            </a:r>
            <a:endParaRPr sz="12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200"/>
              <a:buFont typeface="Calibri"/>
              <a:buNone/>
            </a:pPr>
            <a:r>
              <a:t/>
            </a:r>
            <a:endParaRPr sz="1200">
              <a:solidFill>
                <a:srgbClr val="1E293B"/>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b="1" lang="en-US" sz="1200">
                <a:solidFill>
                  <a:schemeClr val="dk1"/>
                </a:solidFill>
                <a:latin typeface="Calibri"/>
                <a:ea typeface="Calibri"/>
                <a:cs typeface="Calibri"/>
                <a:sym typeface="Calibri"/>
              </a:rPr>
              <a:t>Bias is Built In</a:t>
            </a:r>
            <a:r>
              <a:rPr lang="en-US" sz="1200">
                <a:solidFill>
                  <a:schemeClr val="dk1"/>
                </a:solidFill>
                <a:latin typeface="Calibri"/>
                <a:ea typeface="Calibri"/>
                <a:cs typeface="Calibri"/>
                <a:sym typeface="Calibri"/>
              </a:rPr>
              <a:t> AI hiring systems amplify historical human biases, systematically disadvantaging candidates by gender, race, and age. </a:t>
            </a:r>
            <a:r>
              <a:rPr i="1" lang="en-US" sz="1200">
                <a:solidFill>
                  <a:schemeClr val="dk1"/>
                </a:solidFill>
                <a:latin typeface="Calibri"/>
                <a:ea typeface="Calibri"/>
                <a:cs typeface="Calibri"/>
                <a:sym typeface="Calibri"/>
              </a:rPr>
              <a:t>(Mujtaba &amp; Mahapatra, 2024)</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200"/>
              <a:buFont typeface="Calibri"/>
              <a:buNone/>
            </a:pPr>
            <a:r>
              <a:t/>
            </a:r>
            <a:endParaRPr sz="1200">
              <a:solidFill>
                <a:srgbClr val="1E293B"/>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48" name="Shape 148"/>
        <p:cNvGrpSpPr/>
        <p:nvPr/>
      </p:nvGrpSpPr>
      <p:grpSpPr>
        <a:xfrm>
          <a:off x="0" y="0"/>
          <a:ext cx="0" cy="0"/>
          <a:chOff x="0" y="0"/>
          <a:chExt cx="0" cy="0"/>
        </a:xfrm>
      </p:grpSpPr>
      <p:sp>
        <p:nvSpPr>
          <p:cNvPr id="149" name="Google Shape;149;p7"/>
          <p:cNvSpPr/>
          <p:nvPr/>
        </p:nvSpPr>
        <p:spPr>
          <a:xfrm>
            <a:off x="457200" y="228600"/>
            <a:ext cx="2926080" cy="329184"/>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
          <p:cNvSpPr/>
          <p:nvPr/>
        </p:nvSpPr>
        <p:spPr>
          <a:xfrm>
            <a:off x="457200" y="228600"/>
            <a:ext cx="292608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AIM AND OBJECTIVES</a:t>
            </a:r>
            <a:endParaRPr sz="950">
              <a:solidFill>
                <a:schemeClr val="dk1"/>
              </a:solidFill>
              <a:latin typeface="Calibri"/>
              <a:ea typeface="Calibri"/>
              <a:cs typeface="Calibri"/>
              <a:sym typeface="Calibri"/>
            </a:endParaRPr>
          </a:p>
        </p:txBody>
      </p:sp>
      <p:sp>
        <p:nvSpPr>
          <p:cNvPr id="151" name="Google Shape;151;p7"/>
          <p:cNvSpPr/>
          <p:nvPr/>
        </p:nvSpPr>
        <p:spPr>
          <a:xfrm>
            <a:off x="457200" y="658368"/>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800"/>
              <a:buFont typeface="Calibri"/>
              <a:buNone/>
            </a:pPr>
            <a:r>
              <a:rPr b="1" lang="en-US" sz="2800">
                <a:solidFill>
                  <a:srgbClr val="1B3A6B"/>
                </a:solidFill>
                <a:latin typeface="Calibri"/>
                <a:ea typeface="Calibri"/>
                <a:cs typeface="Calibri"/>
                <a:sym typeface="Calibri"/>
              </a:rPr>
              <a:t>Aim &amp; Objectives</a:t>
            </a:r>
            <a:endParaRPr sz="2800">
              <a:solidFill>
                <a:schemeClr val="dk1"/>
              </a:solidFill>
              <a:latin typeface="Calibri"/>
              <a:ea typeface="Calibri"/>
              <a:cs typeface="Calibri"/>
              <a:sym typeface="Calibri"/>
            </a:endParaRPr>
          </a:p>
        </p:txBody>
      </p:sp>
      <p:sp>
        <p:nvSpPr>
          <p:cNvPr id="152" name="Google Shape;152;p7"/>
          <p:cNvSpPr/>
          <p:nvPr/>
        </p:nvSpPr>
        <p:spPr>
          <a:xfrm>
            <a:off x="457200" y="1453929"/>
            <a:ext cx="79095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50"/>
              <a:buFont typeface="Calibri"/>
              <a:buNone/>
            </a:pPr>
            <a:r>
              <a:rPr b="1" lang="en-US" sz="1150">
                <a:solidFill>
                  <a:srgbClr val="F59E0B"/>
                </a:solidFill>
                <a:latin typeface="Calibri"/>
                <a:ea typeface="Calibri"/>
                <a:cs typeface="Calibri"/>
                <a:sym typeface="Calibri"/>
              </a:rPr>
              <a:t>AIM: </a:t>
            </a:r>
            <a:r>
              <a:rPr b="1" lang="en-US" sz="1150">
                <a:solidFill>
                  <a:srgbClr val="1E4A7A"/>
                </a:solidFill>
                <a:latin typeface="Calibri"/>
                <a:ea typeface="Calibri"/>
                <a:cs typeface="Calibri"/>
                <a:sym typeface="Calibri"/>
              </a:rPr>
              <a:t> </a:t>
            </a:r>
            <a:r>
              <a:rPr lang="en-US" sz="1150">
                <a:solidFill>
                  <a:srgbClr val="1E4A7A"/>
                </a:solidFill>
                <a:latin typeface="Calibri"/>
                <a:ea typeface="Calibri"/>
                <a:cs typeface="Calibri"/>
                <a:sym typeface="Calibri"/>
              </a:rPr>
              <a:t>To design and implement an Intelligent Decision-Support System (IDSS) for recruitment that automates CV screening, eliminates bias of all kinds, ranks candidates on merit, and provides constructive feedback to every applicant.</a:t>
            </a:r>
            <a:endParaRPr sz="1150">
              <a:solidFill>
                <a:srgbClr val="1E4A7A"/>
              </a:solidFill>
              <a:latin typeface="Calibri"/>
              <a:ea typeface="Calibri"/>
              <a:cs typeface="Calibri"/>
              <a:sym typeface="Calibri"/>
            </a:endParaRPr>
          </a:p>
        </p:txBody>
      </p:sp>
      <p:grpSp>
        <p:nvGrpSpPr>
          <p:cNvPr id="153" name="Google Shape;153;p7"/>
          <p:cNvGrpSpPr/>
          <p:nvPr/>
        </p:nvGrpSpPr>
        <p:grpSpPr>
          <a:xfrm>
            <a:off x="253666" y="2158359"/>
            <a:ext cx="8433134" cy="731100"/>
            <a:chOff x="253666" y="2158359"/>
            <a:chExt cx="8433134" cy="731100"/>
          </a:xfrm>
        </p:grpSpPr>
        <p:grpSp>
          <p:nvGrpSpPr>
            <p:cNvPr id="154" name="Google Shape;154;p7"/>
            <p:cNvGrpSpPr/>
            <p:nvPr/>
          </p:nvGrpSpPr>
          <p:grpSpPr>
            <a:xfrm>
              <a:off x="457200" y="2158359"/>
              <a:ext cx="8229600" cy="731100"/>
              <a:chOff x="457200" y="2158359"/>
              <a:chExt cx="8229600" cy="731100"/>
            </a:xfrm>
          </p:grpSpPr>
          <p:sp>
            <p:nvSpPr>
              <p:cNvPr id="155" name="Google Shape;155;p7"/>
              <p:cNvSpPr/>
              <p:nvPr/>
            </p:nvSpPr>
            <p:spPr>
              <a:xfrm>
                <a:off x="457200" y="2158359"/>
                <a:ext cx="8229600" cy="7311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p:nvPr/>
            </p:nvSpPr>
            <p:spPr>
              <a:xfrm>
                <a:off x="932700" y="2267737"/>
                <a:ext cx="75711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1" lang="en-US" sz="1100">
                    <a:solidFill>
                      <a:schemeClr val="dk1"/>
                    </a:solidFill>
                  </a:rPr>
                  <a:t>To design and develop a multi-factor candidate scoring model that evaluates hard technical skills, soft skills, role title similarity, and tenure alignment against recruiter-defined job requirements.</a:t>
                </a:r>
                <a:endParaRPr sz="1050">
                  <a:solidFill>
                    <a:schemeClr val="dk1"/>
                  </a:solidFill>
                  <a:latin typeface="Calibri"/>
                  <a:ea typeface="Calibri"/>
                  <a:cs typeface="Calibri"/>
                  <a:sym typeface="Calibri"/>
                </a:endParaRPr>
              </a:p>
            </p:txBody>
          </p:sp>
        </p:grpSp>
        <p:sp>
          <p:nvSpPr>
            <p:cNvPr id="157" name="Google Shape;157;p7"/>
            <p:cNvSpPr/>
            <p:nvPr/>
          </p:nvSpPr>
          <p:spPr>
            <a:xfrm>
              <a:off x="253666" y="2333503"/>
              <a:ext cx="475500" cy="3933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
            <p:cNvSpPr/>
            <p:nvPr/>
          </p:nvSpPr>
          <p:spPr>
            <a:xfrm>
              <a:off x="253666" y="2333503"/>
              <a:ext cx="475500" cy="39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01</a:t>
              </a:r>
              <a:endParaRPr sz="1200">
                <a:solidFill>
                  <a:schemeClr val="dk1"/>
                </a:solidFill>
                <a:latin typeface="Calibri"/>
                <a:ea typeface="Calibri"/>
                <a:cs typeface="Calibri"/>
                <a:sym typeface="Calibri"/>
              </a:endParaRPr>
            </a:p>
          </p:txBody>
        </p:sp>
      </p:grpSp>
      <p:grpSp>
        <p:nvGrpSpPr>
          <p:cNvPr id="159" name="Google Shape;159;p7"/>
          <p:cNvGrpSpPr/>
          <p:nvPr/>
        </p:nvGrpSpPr>
        <p:grpSpPr>
          <a:xfrm>
            <a:off x="253666" y="3041584"/>
            <a:ext cx="8433134" cy="731100"/>
            <a:chOff x="253666" y="2158359"/>
            <a:chExt cx="8433134" cy="731100"/>
          </a:xfrm>
        </p:grpSpPr>
        <p:grpSp>
          <p:nvGrpSpPr>
            <p:cNvPr id="160" name="Google Shape;160;p7"/>
            <p:cNvGrpSpPr/>
            <p:nvPr/>
          </p:nvGrpSpPr>
          <p:grpSpPr>
            <a:xfrm>
              <a:off x="457200" y="2158359"/>
              <a:ext cx="8229600" cy="731100"/>
              <a:chOff x="457200" y="2158359"/>
              <a:chExt cx="8229600" cy="731100"/>
            </a:xfrm>
          </p:grpSpPr>
          <p:sp>
            <p:nvSpPr>
              <p:cNvPr id="161" name="Google Shape;161;p7"/>
              <p:cNvSpPr/>
              <p:nvPr/>
            </p:nvSpPr>
            <p:spPr>
              <a:xfrm>
                <a:off x="457200" y="2158359"/>
                <a:ext cx="8229600" cy="7311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
              <p:cNvSpPr/>
              <p:nvPr/>
            </p:nvSpPr>
            <p:spPr>
              <a:xfrm>
                <a:off x="932700" y="2267737"/>
                <a:ext cx="75711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1" lang="en-US" sz="1100">
                    <a:solidFill>
                      <a:schemeClr val="dk1"/>
                    </a:solidFill>
                  </a:rPr>
                  <a:t>To implement a recruiter-centric prototype system</a:t>
                </a:r>
                <a:r>
                  <a:rPr lang="en-US" sz="1100">
                    <a:solidFill>
                      <a:schemeClr val="dk1"/>
                    </a:solidFill>
                  </a:rPr>
                  <a:t> featuring layout-aware text extraction (</a:t>
                </a:r>
                <a:r>
                  <a:rPr lang="en-US" sz="1100">
                    <a:solidFill>
                      <a:srgbClr val="188038"/>
                    </a:solidFill>
                    <a:latin typeface="Roboto Mono"/>
                    <a:ea typeface="Roboto Mono"/>
                    <a:cs typeface="Roboto Mono"/>
                    <a:sym typeface="Roboto Mono"/>
                  </a:rPr>
                  <a:t>pdfplumber</a:t>
                </a:r>
                <a:r>
                  <a:rPr lang="en-US" sz="1100">
                    <a:solidFill>
                      <a:schemeClr val="dk1"/>
                    </a:solidFill>
                  </a:rPr>
                  <a:t>), recruiter-controlled PII anonymization (spaCy/regex), and a visual dashboard that displays candidate rankings, score breakdowns, and identified skill gaps. </a:t>
                </a:r>
                <a:endParaRPr sz="1050">
                  <a:solidFill>
                    <a:schemeClr val="dk1"/>
                  </a:solidFill>
                  <a:latin typeface="Calibri"/>
                  <a:ea typeface="Calibri"/>
                  <a:cs typeface="Calibri"/>
                  <a:sym typeface="Calibri"/>
                </a:endParaRPr>
              </a:p>
            </p:txBody>
          </p:sp>
        </p:grpSp>
        <p:sp>
          <p:nvSpPr>
            <p:cNvPr id="163" name="Google Shape;163;p7"/>
            <p:cNvSpPr/>
            <p:nvPr/>
          </p:nvSpPr>
          <p:spPr>
            <a:xfrm>
              <a:off x="253666" y="2333503"/>
              <a:ext cx="475500" cy="3933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7"/>
            <p:cNvSpPr/>
            <p:nvPr/>
          </p:nvSpPr>
          <p:spPr>
            <a:xfrm>
              <a:off x="253666" y="2333503"/>
              <a:ext cx="475500" cy="39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01</a:t>
              </a:r>
              <a:endParaRPr sz="1200">
                <a:solidFill>
                  <a:schemeClr val="dk1"/>
                </a:solidFill>
                <a:latin typeface="Calibri"/>
                <a:ea typeface="Calibri"/>
                <a:cs typeface="Calibri"/>
                <a:sym typeface="Calibri"/>
              </a:endParaRPr>
            </a:p>
          </p:txBody>
        </p:sp>
      </p:grpSp>
      <p:grpSp>
        <p:nvGrpSpPr>
          <p:cNvPr id="165" name="Google Shape;165;p7"/>
          <p:cNvGrpSpPr/>
          <p:nvPr/>
        </p:nvGrpSpPr>
        <p:grpSpPr>
          <a:xfrm>
            <a:off x="253666" y="3924809"/>
            <a:ext cx="8433134" cy="731100"/>
            <a:chOff x="253666" y="2158359"/>
            <a:chExt cx="8433134" cy="731100"/>
          </a:xfrm>
        </p:grpSpPr>
        <p:grpSp>
          <p:nvGrpSpPr>
            <p:cNvPr id="166" name="Google Shape;166;p7"/>
            <p:cNvGrpSpPr/>
            <p:nvPr/>
          </p:nvGrpSpPr>
          <p:grpSpPr>
            <a:xfrm>
              <a:off x="457200" y="2158359"/>
              <a:ext cx="8229600" cy="731100"/>
              <a:chOff x="457200" y="2158359"/>
              <a:chExt cx="8229600" cy="731100"/>
            </a:xfrm>
          </p:grpSpPr>
          <p:sp>
            <p:nvSpPr>
              <p:cNvPr id="167" name="Google Shape;167;p7"/>
              <p:cNvSpPr/>
              <p:nvPr/>
            </p:nvSpPr>
            <p:spPr>
              <a:xfrm>
                <a:off x="457200" y="2158359"/>
                <a:ext cx="8229600" cy="7311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
              <p:cNvSpPr/>
              <p:nvPr/>
            </p:nvSpPr>
            <p:spPr>
              <a:xfrm>
                <a:off x="932700" y="2267737"/>
                <a:ext cx="75711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1" lang="en-US" sz="1100">
                    <a:solidFill>
                      <a:schemeClr val="dk1"/>
                    </a:solidFill>
                  </a:rPr>
                  <a:t>To evaluate the system’s ranking consistency and explainability</a:t>
                </a:r>
                <a:r>
                  <a:rPr lang="en-US" sz="1100">
                    <a:solidFill>
                      <a:schemeClr val="dk1"/>
                    </a:solidFill>
                  </a:rPr>
                  <a:t> by testing candidate scoring and skill-gap identification across representative technical resumes compared to standard keyword-matching baselines. </a:t>
                </a:r>
                <a:endParaRPr sz="1050">
                  <a:solidFill>
                    <a:schemeClr val="dk1"/>
                  </a:solidFill>
                  <a:latin typeface="Calibri"/>
                  <a:ea typeface="Calibri"/>
                  <a:cs typeface="Calibri"/>
                  <a:sym typeface="Calibri"/>
                </a:endParaRPr>
              </a:p>
            </p:txBody>
          </p:sp>
        </p:grpSp>
        <p:sp>
          <p:nvSpPr>
            <p:cNvPr id="169" name="Google Shape;169;p7"/>
            <p:cNvSpPr/>
            <p:nvPr/>
          </p:nvSpPr>
          <p:spPr>
            <a:xfrm>
              <a:off x="253666" y="2333503"/>
              <a:ext cx="475500" cy="3933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
            <p:cNvSpPr/>
            <p:nvPr/>
          </p:nvSpPr>
          <p:spPr>
            <a:xfrm>
              <a:off x="253666" y="2333503"/>
              <a:ext cx="475500" cy="39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01</a:t>
              </a:r>
              <a:endParaRPr sz="1200">
                <a:solidFill>
                  <a:schemeClr val="dk1"/>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75" name="Shape 175"/>
        <p:cNvGrpSpPr/>
        <p:nvPr/>
      </p:nvGrpSpPr>
      <p:grpSpPr>
        <a:xfrm>
          <a:off x="0" y="0"/>
          <a:ext cx="0" cy="0"/>
          <a:chOff x="0" y="0"/>
          <a:chExt cx="0" cy="0"/>
        </a:xfrm>
      </p:grpSpPr>
      <p:sp>
        <p:nvSpPr>
          <p:cNvPr id="176" name="Google Shape;176;p10"/>
          <p:cNvSpPr/>
          <p:nvPr/>
        </p:nvSpPr>
        <p:spPr>
          <a:xfrm>
            <a:off x="457200" y="228600"/>
            <a:ext cx="2926080" cy="329184"/>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0"/>
          <p:cNvSpPr/>
          <p:nvPr/>
        </p:nvSpPr>
        <p:spPr>
          <a:xfrm>
            <a:off x="457200" y="228600"/>
            <a:ext cx="292608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PROPOSED METHODOLOGY</a:t>
            </a:r>
            <a:endParaRPr sz="950">
              <a:solidFill>
                <a:schemeClr val="dk1"/>
              </a:solidFill>
              <a:latin typeface="Calibri"/>
              <a:ea typeface="Calibri"/>
              <a:cs typeface="Calibri"/>
              <a:sym typeface="Calibri"/>
            </a:endParaRPr>
          </a:p>
        </p:txBody>
      </p:sp>
      <p:sp>
        <p:nvSpPr>
          <p:cNvPr id="178" name="Google Shape;178;p10"/>
          <p:cNvSpPr/>
          <p:nvPr/>
        </p:nvSpPr>
        <p:spPr>
          <a:xfrm>
            <a:off x="457200" y="658368"/>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800"/>
              <a:buFont typeface="Calibri"/>
              <a:buNone/>
            </a:pPr>
            <a:r>
              <a:rPr b="1" lang="en-US" sz="2800">
                <a:solidFill>
                  <a:srgbClr val="1B3A6B"/>
                </a:solidFill>
                <a:latin typeface="Calibri"/>
                <a:ea typeface="Calibri"/>
                <a:cs typeface="Calibri"/>
                <a:sym typeface="Calibri"/>
              </a:rPr>
              <a:t>Proposed Methodology</a:t>
            </a:r>
            <a:endParaRPr sz="2800">
              <a:solidFill>
                <a:schemeClr val="dk1"/>
              </a:solidFill>
              <a:latin typeface="Calibri"/>
              <a:ea typeface="Calibri"/>
              <a:cs typeface="Calibri"/>
              <a:sym typeface="Calibri"/>
            </a:endParaRPr>
          </a:p>
        </p:txBody>
      </p:sp>
      <p:sp>
        <p:nvSpPr>
          <p:cNvPr id="179" name="Google Shape;179;p10"/>
          <p:cNvSpPr/>
          <p:nvPr/>
        </p:nvSpPr>
        <p:spPr>
          <a:xfrm>
            <a:off x="457200" y="1261872"/>
            <a:ext cx="1280160" cy="64008"/>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
          <p:cNvSpPr/>
          <p:nvPr/>
        </p:nvSpPr>
        <p:spPr>
          <a:xfrm>
            <a:off x="457200" y="1389888"/>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i="1" lang="en-US" sz="1300">
                <a:solidFill>
                  <a:srgbClr val="64748B"/>
                </a:solidFill>
                <a:latin typeface="Calibri"/>
                <a:ea typeface="Calibri"/>
                <a:cs typeface="Calibri"/>
                <a:sym typeface="Calibri"/>
              </a:rPr>
              <a:t>Agile / Iterative Development Framework</a:t>
            </a:r>
            <a:endParaRPr sz="1300">
              <a:solidFill>
                <a:schemeClr val="dk1"/>
              </a:solidFill>
              <a:latin typeface="Calibri"/>
              <a:ea typeface="Calibri"/>
              <a:cs typeface="Calibri"/>
              <a:sym typeface="Calibri"/>
            </a:endParaRPr>
          </a:p>
        </p:txBody>
      </p:sp>
      <p:sp>
        <p:nvSpPr>
          <p:cNvPr id="181" name="Google Shape;181;p10"/>
          <p:cNvSpPr/>
          <p:nvPr/>
        </p:nvSpPr>
        <p:spPr>
          <a:xfrm>
            <a:off x="365749" y="1691650"/>
            <a:ext cx="1635300" cy="31089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0"/>
          <p:cNvSpPr/>
          <p:nvPr/>
        </p:nvSpPr>
        <p:spPr>
          <a:xfrm>
            <a:off x="365750" y="1691650"/>
            <a:ext cx="1635300" cy="1203000"/>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0"/>
          <p:cNvSpPr/>
          <p:nvPr/>
        </p:nvSpPr>
        <p:spPr>
          <a:xfrm>
            <a:off x="365749" y="1737370"/>
            <a:ext cx="1635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1</a:t>
            </a:r>
            <a:endParaRPr sz="2200">
              <a:solidFill>
                <a:schemeClr val="dk1"/>
              </a:solidFill>
              <a:latin typeface="Calibri"/>
              <a:ea typeface="Calibri"/>
              <a:cs typeface="Calibri"/>
              <a:sym typeface="Calibri"/>
            </a:endParaRPr>
          </a:p>
        </p:txBody>
      </p:sp>
      <p:sp>
        <p:nvSpPr>
          <p:cNvPr id="184" name="Google Shape;184;p10"/>
          <p:cNvSpPr/>
          <p:nvPr/>
        </p:nvSpPr>
        <p:spPr>
          <a:xfrm>
            <a:off x="456375" y="3127399"/>
            <a:ext cx="1401600" cy="1287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US" sz="1100">
                <a:solidFill>
                  <a:srgbClr val="1E293B"/>
                </a:solidFill>
                <a:latin typeface="Calibri"/>
                <a:ea typeface="Calibri"/>
                <a:cs typeface="Calibri"/>
                <a:sym typeface="Calibri"/>
              </a:rPr>
              <a:t>This phase verifies that every functional requirement (FR) and non-functional standard (NFR) is directly validated through specific test procedures.</a:t>
            </a:r>
            <a:endParaRPr sz="1100">
              <a:solidFill>
                <a:srgbClr val="1E293B"/>
              </a:solidFill>
              <a:latin typeface="Calibri"/>
              <a:ea typeface="Calibri"/>
              <a:cs typeface="Calibri"/>
              <a:sym typeface="Calibri"/>
            </a:endParaRPr>
          </a:p>
          <a:p>
            <a:pPr indent="0" lvl="0" marL="0" marR="0" rtl="0" algn="l">
              <a:spcBef>
                <a:spcPts val="1200"/>
              </a:spcBef>
              <a:spcAft>
                <a:spcPts val="0"/>
              </a:spcAft>
              <a:buClr>
                <a:srgbClr val="1E293B"/>
              </a:buClr>
              <a:buSzPts val="900"/>
              <a:buFont typeface="Calibri"/>
              <a:buNone/>
            </a:pPr>
            <a:r>
              <a:t/>
            </a:r>
            <a:endParaRPr sz="900">
              <a:solidFill>
                <a:srgbClr val="1E293B"/>
              </a:solidFill>
              <a:latin typeface="Calibri"/>
              <a:ea typeface="Calibri"/>
              <a:cs typeface="Calibri"/>
              <a:sym typeface="Calibri"/>
            </a:endParaRPr>
          </a:p>
        </p:txBody>
      </p:sp>
      <p:sp>
        <p:nvSpPr>
          <p:cNvPr id="185" name="Google Shape;185;p10"/>
          <p:cNvSpPr/>
          <p:nvPr/>
        </p:nvSpPr>
        <p:spPr>
          <a:xfrm>
            <a:off x="2662284" y="1691650"/>
            <a:ext cx="1635300" cy="31089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0"/>
          <p:cNvSpPr/>
          <p:nvPr/>
        </p:nvSpPr>
        <p:spPr>
          <a:xfrm>
            <a:off x="2662275" y="1691650"/>
            <a:ext cx="1635300" cy="12030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0"/>
          <p:cNvSpPr/>
          <p:nvPr/>
        </p:nvSpPr>
        <p:spPr>
          <a:xfrm>
            <a:off x="2662284" y="1737370"/>
            <a:ext cx="1635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2</a:t>
            </a:r>
            <a:endParaRPr sz="2200">
              <a:solidFill>
                <a:schemeClr val="dk1"/>
              </a:solidFill>
              <a:latin typeface="Calibri"/>
              <a:ea typeface="Calibri"/>
              <a:cs typeface="Calibri"/>
              <a:sym typeface="Calibri"/>
            </a:endParaRPr>
          </a:p>
        </p:txBody>
      </p:sp>
      <p:sp>
        <p:nvSpPr>
          <p:cNvPr id="188" name="Google Shape;188;p10"/>
          <p:cNvSpPr/>
          <p:nvPr/>
        </p:nvSpPr>
        <p:spPr>
          <a:xfrm>
            <a:off x="2631859" y="2212872"/>
            <a:ext cx="16353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1200">
                <a:solidFill>
                  <a:srgbClr val="FFFFFF"/>
                </a:solidFill>
                <a:latin typeface="Calibri"/>
                <a:ea typeface="Calibri"/>
                <a:cs typeface="Calibri"/>
                <a:sym typeface="Calibri"/>
              </a:rPr>
              <a:t>System Design &amp; Modelling Validation </a:t>
            </a:r>
            <a:endParaRPr sz="1200">
              <a:solidFill>
                <a:schemeClr val="dk1"/>
              </a:solidFill>
              <a:latin typeface="Calibri"/>
              <a:ea typeface="Calibri"/>
              <a:cs typeface="Calibri"/>
              <a:sym typeface="Calibri"/>
            </a:endParaRPr>
          </a:p>
        </p:txBody>
      </p:sp>
      <p:sp>
        <p:nvSpPr>
          <p:cNvPr id="189" name="Google Shape;189;p10"/>
          <p:cNvSpPr/>
          <p:nvPr/>
        </p:nvSpPr>
        <p:spPr>
          <a:xfrm>
            <a:off x="2779100" y="3127400"/>
            <a:ext cx="1401600" cy="1287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900"/>
              <a:buFont typeface="Calibri"/>
              <a:buNone/>
            </a:pPr>
            <a:r>
              <a:rPr lang="en-US" sz="1100">
                <a:solidFill>
                  <a:srgbClr val="1E293B"/>
                </a:solidFill>
                <a:latin typeface="Calibri"/>
                <a:ea typeface="Calibri"/>
                <a:cs typeface="Calibri"/>
                <a:sym typeface="Calibri"/>
              </a:rPr>
              <a:t>This level tests whether the software components conform to the structural models defined in Chapter Three (UML diagrams, DFDs, and ERD schemas). </a:t>
            </a:r>
            <a:endParaRPr sz="1100">
              <a:solidFill>
                <a:schemeClr val="dk1"/>
              </a:solidFill>
              <a:latin typeface="Calibri"/>
              <a:ea typeface="Calibri"/>
              <a:cs typeface="Calibri"/>
              <a:sym typeface="Calibri"/>
            </a:endParaRPr>
          </a:p>
        </p:txBody>
      </p:sp>
      <p:sp>
        <p:nvSpPr>
          <p:cNvPr id="190" name="Google Shape;190;p10"/>
          <p:cNvSpPr/>
          <p:nvPr/>
        </p:nvSpPr>
        <p:spPr>
          <a:xfrm>
            <a:off x="4984968" y="1691650"/>
            <a:ext cx="1636500" cy="31089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0"/>
          <p:cNvSpPr/>
          <p:nvPr/>
        </p:nvSpPr>
        <p:spPr>
          <a:xfrm>
            <a:off x="4984975" y="1691650"/>
            <a:ext cx="1636500" cy="1203000"/>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0"/>
          <p:cNvSpPr/>
          <p:nvPr/>
        </p:nvSpPr>
        <p:spPr>
          <a:xfrm>
            <a:off x="4984968" y="1737370"/>
            <a:ext cx="16365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3</a:t>
            </a:r>
            <a:endParaRPr sz="2200">
              <a:solidFill>
                <a:schemeClr val="dk1"/>
              </a:solidFill>
              <a:latin typeface="Calibri"/>
              <a:ea typeface="Calibri"/>
              <a:cs typeface="Calibri"/>
              <a:sym typeface="Calibri"/>
            </a:endParaRPr>
          </a:p>
        </p:txBody>
      </p:sp>
      <p:sp>
        <p:nvSpPr>
          <p:cNvPr id="193" name="Google Shape;193;p10"/>
          <p:cNvSpPr/>
          <p:nvPr/>
        </p:nvSpPr>
        <p:spPr>
          <a:xfrm>
            <a:off x="5000180" y="2212861"/>
            <a:ext cx="16365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1200">
                <a:solidFill>
                  <a:srgbClr val="FFFFFF"/>
                </a:solidFill>
                <a:latin typeface="Calibri"/>
                <a:ea typeface="Calibri"/>
                <a:cs typeface="Calibri"/>
                <a:sym typeface="Calibri"/>
              </a:rPr>
              <a:t>Implementation-Level Testing </a:t>
            </a:r>
            <a:endParaRPr sz="1200">
              <a:solidFill>
                <a:schemeClr val="dk1"/>
              </a:solidFill>
              <a:latin typeface="Calibri"/>
              <a:ea typeface="Calibri"/>
              <a:cs typeface="Calibri"/>
              <a:sym typeface="Calibri"/>
            </a:endParaRPr>
          </a:p>
        </p:txBody>
      </p:sp>
      <p:sp>
        <p:nvSpPr>
          <p:cNvPr id="194" name="Google Shape;194;p10"/>
          <p:cNvSpPr/>
          <p:nvPr/>
        </p:nvSpPr>
        <p:spPr>
          <a:xfrm>
            <a:off x="5101875" y="3127400"/>
            <a:ext cx="1402800" cy="1287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900"/>
              <a:buFont typeface="Calibri"/>
              <a:buNone/>
            </a:pPr>
            <a:r>
              <a:rPr lang="en-US" sz="1100">
                <a:solidFill>
                  <a:srgbClr val="1E293B"/>
                </a:solidFill>
                <a:latin typeface="Calibri"/>
                <a:ea typeface="Calibri"/>
                <a:cs typeface="Calibri"/>
                <a:sym typeface="Calibri"/>
              </a:rPr>
              <a:t>Implementation testing evaluates individual functions, pipeline integration, and frontend components. </a:t>
            </a:r>
            <a:endParaRPr sz="1100">
              <a:solidFill>
                <a:schemeClr val="dk1"/>
              </a:solidFill>
              <a:latin typeface="Calibri"/>
              <a:ea typeface="Calibri"/>
              <a:cs typeface="Calibri"/>
              <a:sym typeface="Calibri"/>
            </a:endParaRPr>
          </a:p>
        </p:txBody>
      </p:sp>
      <p:sp>
        <p:nvSpPr>
          <p:cNvPr id="195" name="Google Shape;195;p10"/>
          <p:cNvSpPr/>
          <p:nvPr/>
        </p:nvSpPr>
        <p:spPr>
          <a:xfrm>
            <a:off x="7222399" y="1691650"/>
            <a:ext cx="1636500" cy="31089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0"/>
          <p:cNvSpPr/>
          <p:nvPr/>
        </p:nvSpPr>
        <p:spPr>
          <a:xfrm>
            <a:off x="7222400" y="1691650"/>
            <a:ext cx="1636500" cy="1203000"/>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0"/>
          <p:cNvSpPr/>
          <p:nvPr/>
        </p:nvSpPr>
        <p:spPr>
          <a:xfrm>
            <a:off x="7203180" y="1737370"/>
            <a:ext cx="16365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4</a:t>
            </a:r>
            <a:endParaRPr sz="2200">
              <a:solidFill>
                <a:schemeClr val="dk1"/>
              </a:solidFill>
              <a:latin typeface="Calibri"/>
              <a:ea typeface="Calibri"/>
              <a:cs typeface="Calibri"/>
              <a:sym typeface="Calibri"/>
            </a:endParaRPr>
          </a:p>
        </p:txBody>
      </p:sp>
      <p:sp>
        <p:nvSpPr>
          <p:cNvPr id="198" name="Google Shape;198;p10"/>
          <p:cNvSpPr/>
          <p:nvPr/>
        </p:nvSpPr>
        <p:spPr>
          <a:xfrm>
            <a:off x="7222399" y="2194448"/>
            <a:ext cx="16365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1200">
                <a:solidFill>
                  <a:srgbClr val="FFFFFF"/>
                </a:solidFill>
                <a:latin typeface="Calibri"/>
                <a:ea typeface="Calibri"/>
                <a:cs typeface="Calibri"/>
                <a:sym typeface="Calibri"/>
              </a:rPr>
              <a:t>Deployment Verification </a:t>
            </a:r>
            <a:endParaRPr sz="1200">
              <a:solidFill>
                <a:schemeClr val="dk1"/>
              </a:solidFill>
              <a:latin typeface="Calibri"/>
              <a:ea typeface="Calibri"/>
              <a:cs typeface="Calibri"/>
              <a:sym typeface="Calibri"/>
            </a:endParaRPr>
          </a:p>
        </p:txBody>
      </p:sp>
      <p:sp>
        <p:nvSpPr>
          <p:cNvPr id="199" name="Google Shape;199;p10"/>
          <p:cNvSpPr/>
          <p:nvPr/>
        </p:nvSpPr>
        <p:spPr>
          <a:xfrm>
            <a:off x="7339300" y="3127400"/>
            <a:ext cx="1402800" cy="162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900"/>
              <a:buFont typeface="Calibri"/>
              <a:buNone/>
            </a:pPr>
            <a:r>
              <a:rPr lang="en-US" sz="900">
                <a:solidFill>
                  <a:srgbClr val="1E293B"/>
                </a:solidFill>
                <a:latin typeface="Calibri"/>
                <a:ea typeface="Calibri"/>
                <a:cs typeface="Calibri"/>
                <a:sym typeface="Calibri"/>
              </a:rPr>
              <a:t>Deployment testing verifies that the built services operate smoothly in a staging/production runtime without local environment conflicts. </a:t>
            </a:r>
            <a:endParaRPr sz="900">
              <a:solidFill>
                <a:schemeClr val="dk1"/>
              </a:solidFill>
              <a:latin typeface="Calibri"/>
              <a:ea typeface="Calibri"/>
              <a:cs typeface="Calibri"/>
              <a:sym typeface="Calibri"/>
            </a:endParaRPr>
          </a:p>
        </p:txBody>
      </p:sp>
      <p:sp>
        <p:nvSpPr>
          <p:cNvPr id="200" name="Google Shape;200;p10"/>
          <p:cNvSpPr/>
          <p:nvPr/>
        </p:nvSpPr>
        <p:spPr>
          <a:xfrm>
            <a:off x="3289697" y="4681728"/>
            <a:ext cx="2743200" cy="3474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
          <p:cNvSpPr/>
          <p:nvPr/>
        </p:nvSpPr>
        <p:spPr>
          <a:xfrm>
            <a:off x="3378994" y="4681728"/>
            <a:ext cx="27432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3A6B"/>
              </a:buClr>
              <a:buSzPts val="1000"/>
              <a:buFont typeface="Calibri"/>
              <a:buNone/>
            </a:pPr>
            <a:r>
              <a:rPr b="1" lang="en-US" sz="1000">
                <a:solidFill>
                  <a:srgbClr val="1B3A6B"/>
                </a:solidFill>
                <a:latin typeface="Calibri"/>
                <a:ea typeface="Calibri"/>
                <a:cs typeface="Calibri"/>
                <a:sym typeface="Calibri"/>
              </a:rPr>
              <a:t>AGILE ITERATIVE FRAMEWORK</a:t>
            </a:r>
            <a:endParaRPr sz="1000">
              <a:solidFill>
                <a:schemeClr val="dk1"/>
              </a:solidFill>
              <a:latin typeface="Calibri"/>
              <a:ea typeface="Calibri"/>
              <a:cs typeface="Calibri"/>
              <a:sym typeface="Calibri"/>
            </a:endParaRPr>
          </a:p>
        </p:txBody>
      </p:sp>
      <p:sp>
        <p:nvSpPr>
          <p:cNvPr id="202" name="Google Shape;202;p10"/>
          <p:cNvSpPr/>
          <p:nvPr/>
        </p:nvSpPr>
        <p:spPr>
          <a:xfrm>
            <a:off x="365759" y="2194447"/>
            <a:ext cx="16353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1200">
                <a:solidFill>
                  <a:srgbClr val="FFFFFF"/>
                </a:solidFill>
                <a:latin typeface="Calibri"/>
                <a:ea typeface="Calibri"/>
                <a:cs typeface="Calibri"/>
                <a:sym typeface="Calibri"/>
              </a:rPr>
              <a:t>Requirement Analysis Traceability </a:t>
            </a:r>
            <a:endParaRPr sz="1200">
              <a:solidFill>
                <a:schemeClr val="dk1"/>
              </a:solidFill>
              <a:latin typeface="Calibri"/>
              <a:ea typeface="Calibri"/>
              <a:cs typeface="Calibri"/>
              <a:sym typeface="Calibri"/>
            </a:endParaRPr>
          </a:p>
        </p:txBody>
      </p:sp>
      <p:cxnSp>
        <p:nvCxnSpPr>
          <p:cNvPr id="203" name="Google Shape;203;p10"/>
          <p:cNvCxnSpPr/>
          <p:nvPr/>
        </p:nvCxnSpPr>
        <p:spPr>
          <a:xfrm flipH="1" rot="10800000">
            <a:off x="2004375" y="2900025"/>
            <a:ext cx="662100" cy="7800"/>
          </a:xfrm>
          <a:prstGeom prst="straightConnector1">
            <a:avLst/>
          </a:prstGeom>
          <a:noFill/>
          <a:ln cap="flat" cmpd="sng" w="9525">
            <a:solidFill>
              <a:schemeClr val="dk2"/>
            </a:solidFill>
            <a:prstDash val="solid"/>
            <a:round/>
            <a:headEnd len="med" w="med" type="none"/>
            <a:tailEnd len="med" w="med" type="triangle"/>
          </a:ln>
        </p:spPr>
      </p:cxnSp>
      <p:cxnSp>
        <p:nvCxnSpPr>
          <p:cNvPr id="204" name="Google Shape;204;p10"/>
          <p:cNvCxnSpPr/>
          <p:nvPr/>
        </p:nvCxnSpPr>
        <p:spPr>
          <a:xfrm>
            <a:off x="4290925" y="2894850"/>
            <a:ext cx="700500" cy="6900"/>
          </a:xfrm>
          <a:prstGeom prst="straightConnector1">
            <a:avLst/>
          </a:prstGeom>
          <a:noFill/>
          <a:ln cap="flat" cmpd="sng" w="9525">
            <a:solidFill>
              <a:schemeClr val="dk2"/>
            </a:solidFill>
            <a:prstDash val="solid"/>
            <a:round/>
            <a:headEnd len="med" w="med" type="none"/>
            <a:tailEnd len="med" w="med" type="triangle"/>
          </a:ln>
        </p:spPr>
      </p:cxnSp>
      <p:cxnSp>
        <p:nvCxnSpPr>
          <p:cNvPr id="205" name="Google Shape;205;p10"/>
          <p:cNvCxnSpPr/>
          <p:nvPr/>
        </p:nvCxnSpPr>
        <p:spPr>
          <a:xfrm flipH="1" rot="10800000">
            <a:off x="6624064" y="2898647"/>
            <a:ext cx="614400" cy="24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10" name="Shape 210"/>
        <p:cNvGrpSpPr/>
        <p:nvPr/>
      </p:nvGrpSpPr>
      <p:grpSpPr>
        <a:xfrm>
          <a:off x="0" y="0"/>
          <a:ext cx="0" cy="0"/>
          <a:chOff x="0" y="0"/>
          <a:chExt cx="0" cy="0"/>
        </a:xfrm>
      </p:grpSpPr>
      <p:pic>
        <p:nvPicPr>
          <p:cNvPr id="211" name="Google Shape;211;p9"/>
          <p:cNvPicPr preferRelativeResize="0"/>
          <p:nvPr/>
        </p:nvPicPr>
        <p:blipFill rotWithShape="1">
          <a:blip r:embed="rId3">
            <a:alphaModFix/>
          </a:blip>
          <a:srcRect b="51639" l="29926" r="16472" t="0"/>
          <a:stretch/>
        </p:blipFill>
        <p:spPr>
          <a:xfrm>
            <a:off x="1651525" y="1244525"/>
            <a:ext cx="7492475" cy="3835075"/>
          </a:xfrm>
          <a:prstGeom prst="rect">
            <a:avLst/>
          </a:prstGeom>
          <a:noFill/>
          <a:ln>
            <a:noFill/>
          </a:ln>
        </p:spPr>
      </p:pic>
      <p:sp>
        <p:nvSpPr>
          <p:cNvPr id="212" name="Google Shape;212;p9"/>
          <p:cNvSpPr/>
          <p:nvPr/>
        </p:nvSpPr>
        <p:spPr>
          <a:xfrm>
            <a:off x="399490" y="684702"/>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800"/>
              <a:buFont typeface="Calibri"/>
              <a:buNone/>
            </a:pPr>
            <a:r>
              <a:rPr b="1" lang="en-US" sz="2800">
                <a:solidFill>
                  <a:srgbClr val="1B3A6B"/>
                </a:solidFill>
                <a:latin typeface="Calibri"/>
                <a:ea typeface="Calibri"/>
                <a:cs typeface="Calibri"/>
                <a:sym typeface="Calibri"/>
              </a:rPr>
              <a:t>System Architecture</a:t>
            </a:r>
            <a:endParaRPr sz="2800">
              <a:solidFill>
                <a:schemeClr val="dk1"/>
              </a:solidFill>
              <a:latin typeface="Calibri"/>
              <a:ea typeface="Calibri"/>
              <a:cs typeface="Calibri"/>
              <a:sym typeface="Calibri"/>
            </a:endParaRPr>
          </a:p>
        </p:txBody>
      </p:sp>
      <p:sp>
        <p:nvSpPr>
          <p:cNvPr id="213" name="Google Shape;213;p9"/>
          <p:cNvSpPr/>
          <p:nvPr/>
        </p:nvSpPr>
        <p:spPr>
          <a:xfrm>
            <a:off x="399500" y="161175"/>
            <a:ext cx="2926200" cy="329100"/>
          </a:xfrm>
          <a:prstGeom prst="rect">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9"/>
          <p:cNvSpPr/>
          <p:nvPr/>
        </p:nvSpPr>
        <p:spPr>
          <a:xfrm>
            <a:off x="399500" y="161175"/>
            <a:ext cx="29262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SYSTEM ARCHITECTURE</a:t>
            </a:r>
            <a:endParaRPr sz="950">
              <a:solidFill>
                <a:schemeClr val="dk1"/>
              </a:solidFill>
              <a:latin typeface="Calibri"/>
              <a:ea typeface="Calibri"/>
              <a:cs typeface="Calibri"/>
              <a:sym typeface="Calibri"/>
            </a:endParaRPr>
          </a:p>
        </p:txBody>
      </p:sp>
      <p:sp>
        <p:nvSpPr>
          <p:cNvPr id="215" name="Google Shape;215;p9"/>
          <p:cNvSpPr/>
          <p:nvPr/>
        </p:nvSpPr>
        <p:spPr>
          <a:xfrm>
            <a:off x="477570" y="1244520"/>
            <a:ext cx="1280100" cy="639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20" name="Shape 220"/>
        <p:cNvGrpSpPr/>
        <p:nvPr/>
      </p:nvGrpSpPr>
      <p:grpSpPr>
        <a:xfrm>
          <a:off x="0" y="0"/>
          <a:ext cx="0" cy="0"/>
          <a:chOff x="0" y="0"/>
          <a:chExt cx="0" cy="0"/>
        </a:xfrm>
      </p:grpSpPr>
      <p:pic>
        <p:nvPicPr>
          <p:cNvPr id="221" name="Google Shape;221;h5126fda51bca4d5d_0_72"/>
          <p:cNvPicPr preferRelativeResize="0"/>
          <p:nvPr/>
        </p:nvPicPr>
        <p:blipFill rotWithShape="1">
          <a:blip r:embed="rId3">
            <a:alphaModFix/>
          </a:blip>
          <a:srcRect b="0" l="0" r="0" t="47811"/>
          <a:stretch/>
        </p:blipFill>
        <p:spPr>
          <a:xfrm>
            <a:off x="0" y="1473425"/>
            <a:ext cx="9264475" cy="3670075"/>
          </a:xfrm>
          <a:prstGeom prst="rect">
            <a:avLst/>
          </a:prstGeom>
          <a:noFill/>
          <a:ln>
            <a:noFill/>
          </a:ln>
        </p:spPr>
      </p:pic>
      <p:sp>
        <p:nvSpPr>
          <p:cNvPr id="222" name="Google Shape;222;h5126fda51bca4d5d_0_72"/>
          <p:cNvSpPr/>
          <p:nvPr/>
        </p:nvSpPr>
        <p:spPr>
          <a:xfrm>
            <a:off x="399490" y="684702"/>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800"/>
              <a:buFont typeface="Calibri"/>
              <a:buNone/>
            </a:pPr>
            <a:r>
              <a:rPr b="1" lang="en-US" sz="2800">
                <a:solidFill>
                  <a:srgbClr val="1B3A6B"/>
                </a:solidFill>
                <a:latin typeface="Calibri"/>
                <a:ea typeface="Calibri"/>
                <a:cs typeface="Calibri"/>
                <a:sym typeface="Calibri"/>
              </a:rPr>
              <a:t>System Architecture</a:t>
            </a:r>
            <a:endParaRPr sz="2800">
              <a:solidFill>
                <a:schemeClr val="dk1"/>
              </a:solidFill>
              <a:latin typeface="Calibri"/>
              <a:ea typeface="Calibri"/>
              <a:cs typeface="Calibri"/>
              <a:sym typeface="Calibri"/>
            </a:endParaRPr>
          </a:p>
        </p:txBody>
      </p:sp>
      <p:sp>
        <p:nvSpPr>
          <p:cNvPr id="223" name="Google Shape;223;h5126fda51bca4d5d_0_72"/>
          <p:cNvSpPr/>
          <p:nvPr/>
        </p:nvSpPr>
        <p:spPr>
          <a:xfrm>
            <a:off x="399500" y="161175"/>
            <a:ext cx="2926200" cy="329100"/>
          </a:xfrm>
          <a:prstGeom prst="rect">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h5126fda51bca4d5d_0_72"/>
          <p:cNvSpPr/>
          <p:nvPr/>
        </p:nvSpPr>
        <p:spPr>
          <a:xfrm>
            <a:off x="399500" y="161175"/>
            <a:ext cx="29262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SYSTEM ARCHITECTURE</a:t>
            </a:r>
            <a:endParaRPr sz="950">
              <a:solidFill>
                <a:schemeClr val="dk1"/>
              </a:solidFill>
              <a:latin typeface="Calibri"/>
              <a:ea typeface="Calibri"/>
              <a:cs typeface="Calibri"/>
              <a:sym typeface="Calibri"/>
            </a:endParaRPr>
          </a:p>
        </p:txBody>
      </p:sp>
      <p:sp>
        <p:nvSpPr>
          <p:cNvPr id="225" name="Google Shape;225;h5126fda51bca4d5d_0_72"/>
          <p:cNvSpPr/>
          <p:nvPr/>
        </p:nvSpPr>
        <p:spPr>
          <a:xfrm>
            <a:off x="477570" y="1244520"/>
            <a:ext cx="1280100" cy="639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30" name="Shape 230"/>
        <p:cNvGrpSpPr/>
        <p:nvPr/>
      </p:nvGrpSpPr>
      <p:grpSpPr>
        <a:xfrm>
          <a:off x="0" y="0"/>
          <a:ext cx="0" cy="0"/>
          <a:chOff x="0" y="0"/>
          <a:chExt cx="0" cy="0"/>
        </a:xfrm>
      </p:grpSpPr>
      <p:sp>
        <p:nvSpPr>
          <p:cNvPr id="231" name="Google Shape;231;h5bf476280ccb24fb_0_0"/>
          <p:cNvSpPr/>
          <p:nvPr/>
        </p:nvSpPr>
        <p:spPr>
          <a:xfrm>
            <a:off x="399490" y="684702"/>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800"/>
              <a:buFont typeface="Calibri"/>
              <a:buNone/>
            </a:pPr>
            <a:r>
              <a:rPr b="1" lang="en-US" sz="2800">
                <a:solidFill>
                  <a:srgbClr val="1B3A6B"/>
                </a:solidFill>
                <a:latin typeface="Calibri"/>
                <a:ea typeface="Calibri"/>
                <a:cs typeface="Calibri"/>
                <a:sym typeface="Calibri"/>
              </a:rPr>
              <a:t>Use Case Diagram</a:t>
            </a:r>
            <a:endParaRPr sz="2800">
              <a:solidFill>
                <a:schemeClr val="dk1"/>
              </a:solidFill>
              <a:latin typeface="Calibri"/>
              <a:ea typeface="Calibri"/>
              <a:cs typeface="Calibri"/>
              <a:sym typeface="Calibri"/>
            </a:endParaRPr>
          </a:p>
        </p:txBody>
      </p:sp>
      <p:sp>
        <p:nvSpPr>
          <p:cNvPr id="232" name="Google Shape;232;h5bf476280ccb24fb_0_0"/>
          <p:cNvSpPr/>
          <p:nvPr/>
        </p:nvSpPr>
        <p:spPr>
          <a:xfrm>
            <a:off x="399500" y="161175"/>
            <a:ext cx="2926200" cy="329100"/>
          </a:xfrm>
          <a:prstGeom prst="rect">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h5bf476280ccb24fb_0_0"/>
          <p:cNvSpPr/>
          <p:nvPr/>
        </p:nvSpPr>
        <p:spPr>
          <a:xfrm>
            <a:off x="399500" y="161175"/>
            <a:ext cx="29262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USE CASE DIAGRAM</a:t>
            </a:r>
            <a:endParaRPr sz="950">
              <a:solidFill>
                <a:schemeClr val="dk1"/>
              </a:solidFill>
              <a:latin typeface="Calibri"/>
              <a:ea typeface="Calibri"/>
              <a:cs typeface="Calibri"/>
              <a:sym typeface="Calibri"/>
            </a:endParaRPr>
          </a:p>
        </p:txBody>
      </p:sp>
      <p:sp>
        <p:nvSpPr>
          <p:cNvPr id="234" name="Google Shape;234;h5bf476280ccb24fb_0_0"/>
          <p:cNvSpPr/>
          <p:nvPr/>
        </p:nvSpPr>
        <p:spPr>
          <a:xfrm>
            <a:off x="477570" y="1244520"/>
            <a:ext cx="1280100" cy="639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5" name="Google Shape;235;h5bf476280ccb24fb_0_0" title="Use case diagram.png"/>
          <p:cNvPicPr preferRelativeResize="0"/>
          <p:nvPr/>
        </p:nvPicPr>
        <p:blipFill rotWithShape="1">
          <a:blip r:embed="rId3">
            <a:alphaModFix/>
          </a:blip>
          <a:srcRect b="0" l="0" r="0" t="4580"/>
          <a:stretch/>
        </p:blipFill>
        <p:spPr>
          <a:xfrm>
            <a:off x="3659600" y="117813"/>
            <a:ext cx="5083350" cy="49078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40" name="Shape 240"/>
        <p:cNvGrpSpPr/>
        <p:nvPr/>
      </p:nvGrpSpPr>
      <p:grpSpPr>
        <a:xfrm>
          <a:off x="0" y="0"/>
          <a:ext cx="0" cy="0"/>
          <a:chOff x="0" y="0"/>
          <a:chExt cx="0" cy="0"/>
        </a:xfrm>
      </p:grpSpPr>
      <p:sp>
        <p:nvSpPr>
          <p:cNvPr id="241" name="Google Shape;241;h5bf476280ccb24fb_0_11"/>
          <p:cNvSpPr/>
          <p:nvPr/>
        </p:nvSpPr>
        <p:spPr>
          <a:xfrm>
            <a:off x="399490" y="684702"/>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800"/>
              <a:buFont typeface="Calibri"/>
              <a:buNone/>
            </a:pPr>
            <a:r>
              <a:rPr b="1" lang="en-US" sz="2800">
                <a:solidFill>
                  <a:srgbClr val="1B3A6B"/>
                </a:solidFill>
                <a:latin typeface="Calibri"/>
                <a:ea typeface="Calibri"/>
                <a:cs typeface="Calibri"/>
                <a:sym typeface="Calibri"/>
              </a:rPr>
              <a:t> Data Flow Diagram </a:t>
            </a:r>
            <a:endParaRPr sz="2800">
              <a:solidFill>
                <a:schemeClr val="dk1"/>
              </a:solidFill>
              <a:latin typeface="Calibri"/>
              <a:ea typeface="Calibri"/>
              <a:cs typeface="Calibri"/>
              <a:sym typeface="Calibri"/>
            </a:endParaRPr>
          </a:p>
        </p:txBody>
      </p:sp>
      <p:sp>
        <p:nvSpPr>
          <p:cNvPr id="242" name="Google Shape;242;h5bf476280ccb24fb_0_11"/>
          <p:cNvSpPr/>
          <p:nvPr/>
        </p:nvSpPr>
        <p:spPr>
          <a:xfrm>
            <a:off x="399500" y="161175"/>
            <a:ext cx="2926200" cy="329100"/>
          </a:xfrm>
          <a:prstGeom prst="rect">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h5bf476280ccb24fb_0_11"/>
          <p:cNvSpPr/>
          <p:nvPr/>
        </p:nvSpPr>
        <p:spPr>
          <a:xfrm>
            <a:off x="399500" y="161175"/>
            <a:ext cx="29262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DATA FLOW</a:t>
            </a:r>
            <a:r>
              <a:rPr b="1" lang="en-US" sz="950">
                <a:solidFill>
                  <a:srgbClr val="FFFFFF"/>
                </a:solidFill>
                <a:latin typeface="Calibri"/>
                <a:ea typeface="Calibri"/>
                <a:cs typeface="Calibri"/>
                <a:sym typeface="Calibri"/>
              </a:rPr>
              <a:t> </a:t>
            </a:r>
            <a:r>
              <a:rPr b="1" lang="en-US" sz="950">
                <a:solidFill>
                  <a:srgbClr val="FFFFFF"/>
                </a:solidFill>
                <a:latin typeface="Calibri"/>
                <a:ea typeface="Calibri"/>
                <a:cs typeface="Calibri"/>
                <a:sym typeface="Calibri"/>
              </a:rPr>
              <a:t>DIAGRAM</a:t>
            </a:r>
            <a:endParaRPr sz="950">
              <a:solidFill>
                <a:schemeClr val="dk1"/>
              </a:solidFill>
              <a:latin typeface="Calibri"/>
              <a:ea typeface="Calibri"/>
              <a:cs typeface="Calibri"/>
              <a:sym typeface="Calibri"/>
            </a:endParaRPr>
          </a:p>
        </p:txBody>
      </p:sp>
      <p:sp>
        <p:nvSpPr>
          <p:cNvPr id="244" name="Google Shape;244;h5bf476280ccb24fb_0_11"/>
          <p:cNvSpPr/>
          <p:nvPr/>
        </p:nvSpPr>
        <p:spPr>
          <a:xfrm>
            <a:off x="477570" y="1244520"/>
            <a:ext cx="1280100" cy="639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5" name="Google Shape;245;h5bf476280ccb24fb_0_11" title="DFD Context Diagram.png"/>
          <p:cNvPicPr preferRelativeResize="0"/>
          <p:nvPr/>
        </p:nvPicPr>
        <p:blipFill rotWithShape="1">
          <a:blip r:embed="rId3">
            <a:alphaModFix/>
          </a:blip>
          <a:srcRect b="1143" l="0" r="0" t="3637"/>
          <a:stretch/>
        </p:blipFill>
        <p:spPr>
          <a:xfrm>
            <a:off x="3578425" y="245137"/>
            <a:ext cx="5392564" cy="4653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50" name="Shape 250"/>
        <p:cNvGrpSpPr/>
        <p:nvPr/>
      </p:nvGrpSpPr>
      <p:grpSpPr>
        <a:xfrm>
          <a:off x="0" y="0"/>
          <a:ext cx="0" cy="0"/>
          <a:chOff x="0" y="0"/>
          <a:chExt cx="0" cy="0"/>
        </a:xfrm>
      </p:grpSpPr>
      <p:sp>
        <p:nvSpPr>
          <p:cNvPr id="251" name="Google Shape;251;p11"/>
          <p:cNvSpPr/>
          <p:nvPr/>
        </p:nvSpPr>
        <p:spPr>
          <a:xfrm>
            <a:off x="457200" y="228600"/>
            <a:ext cx="2926080" cy="329184"/>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a:off x="457200" y="228600"/>
            <a:ext cx="292608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IMPLEMENTATION TOOLS AND STACK</a:t>
            </a:r>
            <a:endParaRPr sz="950">
              <a:solidFill>
                <a:schemeClr val="dk1"/>
              </a:solidFill>
              <a:latin typeface="Calibri"/>
              <a:ea typeface="Calibri"/>
              <a:cs typeface="Calibri"/>
              <a:sym typeface="Calibri"/>
            </a:endParaRPr>
          </a:p>
        </p:txBody>
      </p:sp>
      <p:sp>
        <p:nvSpPr>
          <p:cNvPr id="253" name="Google Shape;253;p11"/>
          <p:cNvSpPr/>
          <p:nvPr/>
        </p:nvSpPr>
        <p:spPr>
          <a:xfrm>
            <a:off x="457200" y="658368"/>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800"/>
              <a:buFont typeface="Calibri"/>
              <a:buNone/>
            </a:pPr>
            <a:r>
              <a:rPr b="1" lang="en-US" sz="2800">
                <a:solidFill>
                  <a:srgbClr val="1B3A6B"/>
                </a:solidFill>
                <a:latin typeface="Calibri"/>
                <a:ea typeface="Calibri"/>
                <a:cs typeface="Calibri"/>
                <a:sym typeface="Calibri"/>
              </a:rPr>
              <a:t>Implementation Tools &amp; Technology Stack</a:t>
            </a:r>
            <a:endParaRPr sz="2800">
              <a:solidFill>
                <a:schemeClr val="dk1"/>
              </a:solidFill>
              <a:latin typeface="Calibri"/>
              <a:ea typeface="Calibri"/>
              <a:cs typeface="Calibri"/>
              <a:sym typeface="Calibri"/>
            </a:endParaRPr>
          </a:p>
        </p:txBody>
      </p:sp>
      <p:sp>
        <p:nvSpPr>
          <p:cNvPr id="254" name="Google Shape;254;p11"/>
          <p:cNvSpPr/>
          <p:nvPr/>
        </p:nvSpPr>
        <p:spPr>
          <a:xfrm>
            <a:off x="457200" y="1691640"/>
            <a:ext cx="4114800" cy="73152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5" name="Google Shape;255;p11"/>
          <p:cNvPicPr preferRelativeResize="0"/>
          <p:nvPr/>
        </p:nvPicPr>
        <p:blipFill rotWithShape="1">
          <a:blip r:embed="rId3">
            <a:alphaModFix/>
          </a:blip>
          <a:srcRect b="0" l="0" r="0" t="0"/>
          <a:stretch/>
        </p:blipFill>
        <p:spPr>
          <a:xfrm>
            <a:off x="603504" y="1847088"/>
            <a:ext cx="347472" cy="347472"/>
          </a:xfrm>
          <a:prstGeom prst="rect">
            <a:avLst/>
          </a:prstGeom>
          <a:noFill/>
          <a:ln>
            <a:noFill/>
          </a:ln>
        </p:spPr>
      </p:pic>
      <p:sp>
        <p:nvSpPr>
          <p:cNvPr id="256" name="Google Shape;256;p11"/>
          <p:cNvSpPr/>
          <p:nvPr/>
        </p:nvSpPr>
        <p:spPr>
          <a:xfrm>
            <a:off x="1124712" y="1737360"/>
            <a:ext cx="1737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1100"/>
              <a:buFont typeface="Calibri"/>
              <a:buNone/>
            </a:pPr>
            <a:r>
              <a:rPr b="1" lang="en-US" sz="1100">
                <a:solidFill>
                  <a:srgbClr val="1B3A6B"/>
                </a:solidFill>
                <a:latin typeface="Calibri"/>
                <a:ea typeface="Calibri"/>
                <a:cs typeface="Calibri"/>
                <a:sym typeface="Calibri"/>
              </a:rPr>
              <a:t>Python</a:t>
            </a:r>
            <a:endParaRPr sz="1100">
              <a:solidFill>
                <a:schemeClr val="dk1"/>
              </a:solidFill>
              <a:latin typeface="Calibri"/>
              <a:ea typeface="Calibri"/>
              <a:cs typeface="Calibri"/>
              <a:sym typeface="Calibri"/>
            </a:endParaRPr>
          </a:p>
        </p:txBody>
      </p:sp>
      <p:sp>
        <p:nvSpPr>
          <p:cNvPr id="257" name="Google Shape;257;p11"/>
          <p:cNvSpPr/>
          <p:nvPr/>
        </p:nvSpPr>
        <p:spPr>
          <a:xfrm>
            <a:off x="1124712" y="2002536"/>
            <a:ext cx="17373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i="1" lang="en-US" sz="900">
                <a:solidFill>
                  <a:srgbClr val="64748B"/>
                </a:solidFill>
                <a:latin typeface="Calibri"/>
                <a:ea typeface="Calibri"/>
                <a:cs typeface="Calibri"/>
                <a:sym typeface="Calibri"/>
              </a:rPr>
              <a:t>Core Programming Language</a:t>
            </a:r>
            <a:endParaRPr sz="900">
              <a:solidFill>
                <a:schemeClr val="dk1"/>
              </a:solidFill>
              <a:latin typeface="Calibri"/>
              <a:ea typeface="Calibri"/>
              <a:cs typeface="Calibri"/>
              <a:sym typeface="Calibri"/>
            </a:endParaRPr>
          </a:p>
        </p:txBody>
      </p:sp>
      <p:sp>
        <p:nvSpPr>
          <p:cNvPr id="258" name="Google Shape;258;p11"/>
          <p:cNvSpPr/>
          <p:nvPr/>
        </p:nvSpPr>
        <p:spPr>
          <a:xfrm>
            <a:off x="2944368" y="1746504"/>
            <a:ext cx="155448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alibri"/>
              <a:buNone/>
            </a:pPr>
            <a:r>
              <a:rPr lang="en-US" sz="850">
                <a:solidFill>
                  <a:srgbClr val="1E293B"/>
                </a:solidFill>
                <a:latin typeface="Calibri"/>
                <a:ea typeface="Calibri"/>
                <a:cs typeface="Calibri"/>
                <a:sym typeface="Calibri"/>
              </a:rPr>
              <a:t>Primary language for NLP pipelines, ML training, bias filters, and backend logic.</a:t>
            </a:r>
            <a:endParaRPr sz="850">
              <a:solidFill>
                <a:schemeClr val="dk1"/>
              </a:solidFill>
              <a:latin typeface="Calibri"/>
              <a:ea typeface="Calibri"/>
              <a:cs typeface="Calibri"/>
              <a:sym typeface="Calibri"/>
            </a:endParaRPr>
          </a:p>
        </p:txBody>
      </p:sp>
      <p:sp>
        <p:nvSpPr>
          <p:cNvPr id="259" name="Google Shape;259;p11"/>
          <p:cNvSpPr/>
          <p:nvPr/>
        </p:nvSpPr>
        <p:spPr>
          <a:xfrm>
            <a:off x="2880360" y="1783080"/>
            <a:ext cx="18288" cy="54864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1"/>
          <p:cNvSpPr/>
          <p:nvPr/>
        </p:nvSpPr>
        <p:spPr>
          <a:xfrm>
            <a:off x="4800600" y="1691640"/>
            <a:ext cx="4114800" cy="73152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1" name="Google Shape;261;p11"/>
          <p:cNvPicPr preferRelativeResize="0"/>
          <p:nvPr/>
        </p:nvPicPr>
        <p:blipFill rotWithShape="1">
          <a:blip r:embed="rId4">
            <a:alphaModFix/>
          </a:blip>
          <a:srcRect b="0" l="0" r="0" t="0"/>
          <a:stretch/>
        </p:blipFill>
        <p:spPr>
          <a:xfrm>
            <a:off x="4946904" y="1847088"/>
            <a:ext cx="347472" cy="347472"/>
          </a:xfrm>
          <a:prstGeom prst="rect">
            <a:avLst/>
          </a:prstGeom>
          <a:noFill/>
          <a:ln>
            <a:noFill/>
          </a:ln>
        </p:spPr>
      </p:pic>
      <p:sp>
        <p:nvSpPr>
          <p:cNvPr id="262" name="Google Shape;262;p11"/>
          <p:cNvSpPr/>
          <p:nvPr/>
        </p:nvSpPr>
        <p:spPr>
          <a:xfrm>
            <a:off x="5468112" y="1737360"/>
            <a:ext cx="1737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100"/>
              <a:buFont typeface="Calibri"/>
              <a:buNone/>
            </a:pPr>
            <a:r>
              <a:rPr b="1" lang="en-US" sz="1100">
                <a:solidFill>
                  <a:srgbClr val="0D9488"/>
                </a:solidFill>
                <a:latin typeface="Calibri"/>
                <a:ea typeface="Calibri"/>
                <a:cs typeface="Calibri"/>
                <a:sym typeface="Calibri"/>
              </a:rPr>
              <a:t>React.js</a:t>
            </a:r>
            <a:endParaRPr sz="1100">
              <a:solidFill>
                <a:schemeClr val="dk1"/>
              </a:solidFill>
              <a:latin typeface="Calibri"/>
              <a:ea typeface="Calibri"/>
              <a:cs typeface="Calibri"/>
              <a:sym typeface="Calibri"/>
            </a:endParaRPr>
          </a:p>
        </p:txBody>
      </p:sp>
      <p:sp>
        <p:nvSpPr>
          <p:cNvPr id="263" name="Google Shape;263;p11"/>
          <p:cNvSpPr/>
          <p:nvPr/>
        </p:nvSpPr>
        <p:spPr>
          <a:xfrm>
            <a:off x="5468112" y="2002536"/>
            <a:ext cx="17373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i="1" lang="en-US" sz="900">
                <a:solidFill>
                  <a:srgbClr val="64748B"/>
                </a:solidFill>
                <a:latin typeface="Calibri"/>
                <a:ea typeface="Calibri"/>
                <a:cs typeface="Calibri"/>
                <a:sym typeface="Calibri"/>
              </a:rPr>
              <a:t>Frontend / HR Dashboard</a:t>
            </a:r>
            <a:endParaRPr sz="900">
              <a:solidFill>
                <a:schemeClr val="dk1"/>
              </a:solidFill>
              <a:latin typeface="Calibri"/>
              <a:ea typeface="Calibri"/>
              <a:cs typeface="Calibri"/>
              <a:sym typeface="Calibri"/>
            </a:endParaRPr>
          </a:p>
        </p:txBody>
      </p:sp>
      <p:sp>
        <p:nvSpPr>
          <p:cNvPr id="264" name="Google Shape;264;p11"/>
          <p:cNvSpPr/>
          <p:nvPr/>
        </p:nvSpPr>
        <p:spPr>
          <a:xfrm>
            <a:off x="7287768" y="1746504"/>
            <a:ext cx="155448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alibri"/>
              <a:buNone/>
            </a:pPr>
            <a:r>
              <a:rPr lang="en-US" sz="850">
                <a:solidFill>
                  <a:srgbClr val="1E293B"/>
                </a:solidFill>
                <a:latin typeface="Calibri"/>
                <a:ea typeface="Calibri"/>
                <a:cs typeface="Calibri"/>
                <a:sym typeface="Calibri"/>
              </a:rPr>
              <a:t>Interactive recruiter interface with real-time rankings and feedback previews.</a:t>
            </a:r>
            <a:endParaRPr sz="850">
              <a:solidFill>
                <a:schemeClr val="dk1"/>
              </a:solidFill>
              <a:latin typeface="Calibri"/>
              <a:ea typeface="Calibri"/>
              <a:cs typeface="Calibri"/>
              <a:sym typeface="Calibri"/>
            </a:endParaRPr>
          </a:p>
        </p:txBody>
      </p:sp>
      <p:sp>
        <p:nvSpPr>
          <p:cNvPr id="265" name="Google Shape;265;p11"/>
          <p:cNvSpPr/>
          <p:nvPr/>
        </p:nvSpPr>
        <p:spPr>
          <a:xfrm>
            <a:off x="7223760" y="1783080"/>
            <a:ext cx="18288" cy="54864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a:off x="457200" y="2496312"/>
            <a:ext cx="4114800" cy="73152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7" name="Google Shape;267;p11"/>
          <p:cNvPicPr preferRelativeResize="0"/>
          <p:nvPr/>
        </p:nvPicPr>
        <p:blipFill rotWithShape="1">
          <a:blip r:embed="rId5">
            <a:alphaModFix/>
          </a:blip>
          <a:srcRect b="0" l="0" r="0" t="0"/>
          <a:stretch/>
        </p:blipFill>
        <p:spPr>
          <a:xfrm>
            <a:off x="603504" y="2651760"/>
            <a:ext cx="347472" cy="347472"/>
          </a:xfrm>
          <a:prstGeom prst="rect">
            <a:avLst/>
          </a:prstGeom>
          <a:noFill/>
          <a:ln>
            <a:noFill/>
          </a:ln>
        </p:spPr>
      </p:pic>
      <p:sp>
        <p:nvSpPr>
          <p:cNvPr id="268" name="Google Shape;268;p11"/>
          <p:cNvSpPr/>
          <p:nvPr/>
        </p:nvSpPr>
        <p:spPr>
          <a:xfrm>
            <a:off x="1124712" y="2542032"/>
            <a:ext cx="1737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1100"/>
              <a:buFont typeface="Calibri"/>
              <a:buNone/>
            </a:pPr>
            <a:r>
              <a:rPr b="1" lang="en-US" sz="1100">
                <a:solidFill>
                  <a:srgbClr val="3B82F6"/>
                </a:solidFill>
                <a:latin typeface="Calibri"/>
                <a:ea typeface="Calibri"/>
                <a:cs typeface="Calibri"/>
                <a:sym typeface="Calibri"/>
              </a:rPr>
              <a:t>Django / Flask</a:t>
            </a:r>
            <a:endParaRPr sz="1100">
              <a:solidFill>
                <a:schemeClr val="dk1"/>
              </a:solidFill>
              <a:latin typeface="Calibri"/>
              <a:ea typeface="Calibri"/>
              <a:cs typeface="Calibri"/>
              <a:sym typeface="Calibri"/>
            </a:endParaRPr>
          </a:p>
        </p:txBody>
      </p:sp>
      <p:sp>
        <p:nvSpPr>
          <p:cNvPr id="269" name="Google Shape;269;p11"/>
          <p:cNvSpPr/>
          <p:nvPr/>
        </p:nvSpPr>
        <p:spPr>
          <a:xfrm>
            <a:off x="1124712" y="2807208"/>
            <a:ext cx="17373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i="1" lang="en-US" sz="900">
                <a:solidFill>
                  <a:srgbClr val="64748B"/>
                </a:solidFill>
                <a:latin typeface="Calibri"/>
                <a:ea typeface="Calibri"/>
                <a:cs typeface="Calibri"/>
                <a:sym typeface="Calibri"/>
              </a:rPr>
              <a:t>Backend REST API</a:t>
            </a:r>
            <a:endParaRPr sz="900">
              <a:solidFill>
                <a:schemeClr val="dk1"/>
              </a:solidFill>
              <a:latin typeface="Calibri"/>
              <a:ea typeface="Calibri"/>
              <a:cs typeface="Calibri"/>
              <a:sym typeface="Calibri"/>
            </a:endParaRPr>
          </a:p>
        </p:txBody>
      </p:sp>
      <p:sp>
        <p:nvSpPr>
          <p:cNvPr id="270" name="Google Shape;270;p11"/>
          <p:cNvSpPr/>
          <p:nvPr/>
        </p:nvSpPr>
        <p:spPr>
          <a:xfrm>
            <a:off x="2944368" y="2551176"/>
            <a:ext cx="155448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alibri"/>
              <a:buNone/>
            </a:pPr>
            <a:r>
              <a:rPr lang="en-US" sz="850">
                <a:solidFill>
                  <a:srgbClr val="1E293B"/>
                </a:solidFill>
                <a:latin typeface="Calibri"/>
                <a:ea typeface="Calibri"/>
                <a:cs typeface="Calibri"/>
                <a:sym typeface="Calibri"/>
              </a:rPr>
              <a:t>Handles requests between ML engine, bias module, feedback generator, and UI.</a:t>
            </a:r>
            <a:endParaRPr sz="850">
              <a:solidFill>
                <a:schemeClr val="dk1"/>
              </a:solidFill>
              <a:latin typeface="Calibri"/>
              <a:ea typeface="Calibri"/>
              <a:cs typeface="Calibri"/>
              <a:sym typeface="Calibri"/>
            </a:endParaRPr>
          </a:p>
        </p:txBody>
      </p:sp>
      <p:sp>
        <p:nvSpPr>
          <p:cNvPr id="271" name="Google Shape;271;p11"/>
          <p:cNvSpPr/>
          <p:nvPr/>
        </p:nvSpPr>
        <p:spPr>
          <a:xfrm>
            <a:off x="2880360" y="2587752"/>
            <a:ext cx="18288" cy="54864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1"/>
          <p:cNvSpPr/>
          <p:nvPr/>
        </p:nvSpPr>
        <p:spPr>
          <a:xfrm>
            <a:off x="4800600" y="2496312"/>
            <a:ext cx="4114800" cy="73152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3" name="Google Shape;273;p11"/>
          <p:cNvPicPr preferRelativeResize="0"/>
          <p:nvPr/>
        </p:nvPicPr>
        <p:blipFill rotWithShape="1">
          <a:blip r:embed="rId6">
            <a:alphaModFix/>
          </a:blip>
          <a:srcRect b="0" l="0" r="0" t="0"/>
          <a:stretch/>
        </p:blipFill>
        <p:spPr>
          <a:xfrm>
            <a:off x="4946904" y="2651760"/>
            <a:ext cx="347472" cy="347472"/>
          </a:xfrm>
          <a:prstGeom prst="rect">
            <a:avLst/>
          </a:prstGeom>
          <a:noFill/>
          <a:ln>
            <a:noFill/>
          </a:ln>
        </p:spPr>
      </p:pic>
      <p:sp>
        <p:nvSpPr>
          <p:cNvPr id="274" name="Google Shape;274;p11"/>
          <p:cNvSpPr/>
          <p:nvPr/>
        </p:nvSpPr>
        <p:spPr>
          <a:xfrm>
            <a:off x="5468112" y="2542032"/>
            <a:ext cx="1737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1100"/>
              <a:buFont typeface="Calibri"/>
              <a:buNone/>
            </a:pPr>
            <a:r>
              <a:rPr b="1" lang="en-US" sz="1100">
                <a:solidFill>
                  <a:srgbClr val="1B3A6B"/>
                </a:solidFill>
                <a:latin typeface="Calibri"/>
                <a:ea typeface="Calibri"/>
                <a:cs typeface="Calibri"/>
                <a:sym typeface="Calibri"/>
              </a:rPr>
              <a:t>PostgreSQL</a:t>
            </a:r>
            <a:endParaRPr sz="1100">
              <a:solidFill>
                <a:schemeClr val="dk1"/>
              </a:solidFill>
              <a:latin typeface="Calibri"/>
              <a:ea typeface="Calibri"/>
              <a:cs typeface="Calibri"/>
              <a:sym typeface="Calibri"/>
            </a:endParaRPr>
          </a:p>
        </p:txBody>
      </p:sp>
      <p:sp>
        <p:nvSpPr>
          <p:cNvPr id="275" name="Google Shape;275;p11"/>
          <p:cNvSpPr/>
          <p:nvPr/>
        </p:nvSpPr>
        <p:spPr>
          <a:xfrm>
            <a:off x="5468112" y="2807208"/>
            <a:ext cx="17373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i="1" lang="en-US" sz="900">
                <a:solidFill>
                  <a:srgbClr val="64748B"/>
                </a:solidFill>
                <a:latin typeface="Calibri"/>
                <a:ea typeface="Calibri"/>
                <a:cs typeface="Calibri"/>
                <a:sym typeface="Calibri"/>
              </a:rPr>
              <a:t>Database</a:t>
            </a:r>
            <a:endParaRPr sz="900">
              <a:solidFill>
                <a:schemeClr val="dk1"/>
              </a:solidFill>
              <a:latin typeface="Calibri"/>
              <a:ea typeface="Calibri"/>
              <a:cs typeface="Calibri"/>
              <a:sym typeface="Calibri"/>
            </a:endParaRPr>
          </a:p>
        </p:txBody>
      </p:sp>
      <p:sp>
        <p:nvSpPr>
          <p:cNvPr id="276" name="Google Shape;276;p11"/>
          <p:cNvSpPr/>
          <p:nvPr/>
        </p:nvSpPr>
        <p:spPr>
          <a:xfrm>
            <a:off x="7287768" y="2551176"/>
            <a:ext cx="155448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alibri"/>
              <a:buNone/>
            </a:pPr>
            <a:r>
              <a:rPr lang="en-US" sz="850">
                <a:solidFill>
                  <a:srgbClr val="1E293B"/>
                </a:solidFill>
                <a:latin typeface="Calibri"/>
                <a:ea typeface="Calibri"/>
                <a:cs typeface="Calibri"/>
                <a:sym typeface="Calibri"/>
              </a:rPr>
              <a:t>Structured storage for CVs, JDs, bias audit logs, scores, and feedback records.</a:t>
            </a:r>
            <a:endParaRPr sz="850">
              <a:solidFill>
                <a:schemeClr val="dk1"/>
              </a:solidFill>
              <a:latin typeface="Calibri"/>
              <a:ea typeface="Calibri"/>
              <a:cs typeface="Calibri"/>
              <a:sym typeface="Calibri"/>
            </a:endParaRPr>
          </a:p>
        </p:txBody>
      </p:sp>
      <p:sp>
        <p:nvSpPr>
          <p:cNvPr id="277" name="Google Shape;277;p11"/>
          <p:cNvSpPr/>
          <p:nvPr/>
        </p:nvSpPr>
        <p:spPr>
          <a:xfrm>
            <a:off x="7223760" y="2587752"/>
            <a:ext cx="18288" cy="54864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1"/>
          <p:cNvSpPr/>
          <p:nvPr/>
        </p:nvSpPr>
        <p:spPr>
          <a:xfrm>
            <a:off x="457200" y="3300984"/>
            <a:ext cx="4114800" cy="73152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9" name="Google Shape;279;p11"/>
          <p:cNvPicPr preferRelativeResize="0"/>
          <p:nvPr/>
        </p:nvPicPr>
        <p:blipFill rotWithShape="1">
          <a:blip r:embed="rId7">
            <a:alphaModFix/>
          </a:blip>
          <a:srcRect b="0" l="0" r="0" t="0"/>
          <a:stretch/>
        </p:blipFill>
        <p:spPr>
          <a:xfrm>
            <a:off x="603504" y="3456432"/>
            <a:ext cx="347472" cy="347472"/>
          </a:xfrm>
          <a:prstGeom prst="rect">
            <a:avLst/>
          </a:prstGeom>
          <a:noFill/>
          <a:ln>
            <a:noFill/>
          </a:ln>
        </p:spPr>
      </p:pic>
      <p:sp>
        <p:nvSpPr>
          <p:cNvPr id="280" name="Google Shape;280;p11"/>
          <p:cNvSpPr/>
          <p:nvPr/>
        </p:nvSpPr>
        <p:spPr>
          <a:xfrm>
            <a:off x="1124712" y="3346704"/>
            <a:ext cx="1737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100"/>
              <a:buFont typeface="Calibri"/>
              <a:buNone/>
            </a:pPr>
            <a:r>
              <a:rPr b="1" lang="en-US" sz="1100">
                <a:solidFill>
                  <a:srgbClr val="0D9488"/>
                </a:solidFill>
                <a:latin typeface="Calibri"/>
                <a:ea typeface="Calibri"/>
                <a:cs typeface="Calibri"/>
                <a:sym typeface="Calibri"/>
              </a:rPr>
              <a:t>HuggingFace / BERT</a:t>
            </a:r>
            <a:endParaRPr sz="1100">
              <a:solidFill>
                <a:schemeClr val="dk1"/>
              </a:solidFill>
              <a:latin typeface="Calibri"/>
              <a:ea typeface="Calibri"/>
              <a:cs typeface="Calibri"/>
              <a:sym typeface="Calibri"/>
            </a:endParaRPr>
          </a:p>
        </p:txBody>
      </p:sp>
      <p:sp>
        <p:nvSpPr>
          <p:cNvPr id="281" name="Google Shape;281;p11"/>
          <p:cNvSpPr/>
          <p:nvPr/>
        </p:nvSpPr>
        <p:spPr>
          <a:xfrm>
            <a:off x="1124712" y="3611880"/>
            <a:ext cx="17373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i="1" lang="en-US" sz="900">
                <a:solidFill>
                  <a:srgbClr val="64748B"/>
                </a:solidFill>
                <a:latin typeface="Calibri"/>
                <a:ea typeface="Calibri"/>
                <a:cs typeface="Calibri"/>
                <a:sym typeface="Calibri"/>
              </a:rPr>
              <a:t>NLP &amp; Transformer Model</a:t>
            </a:r>
            <a:endParaRPr sz="900">
              <a:solidFill>
                <a:schemeClr val="dk1"/>
              </a:solidFill>
              <a:latin typeface="Calibri"/>
              <a:ea typeface="Calibri"/>
              <a:cs typeface="Calibri"/>
              <a:sym typeface="Calibri"/>
            </a:endParaRPr>
          </a:p>
        </p:txBody>
      </p:sp>
      <p:sp>
        <p:nvSpPr>
          <p:cNvPr id="282" name="Google Shape;282;p11"/>
          <p:cNvSpPr/>
          <p:nvPr/>
        </p:nvSpPr>
        <p:spPr>
          <a:xfrm>
            <a:off x="2944368" y="3355848"/>
            <a:ext cx="155448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alibri"/>
              <a:buNone/>
            </a:pPr>
            <a:r>
              <a:rPr lang="en-US" sz="850">
                <a:solidFill>
                  <a:srgbClr val="1E293B"/>
                </a:solidFill>
                <a:latin typeface="Calibri"/>
                <a:ea typeface="Calibri"/>
                <a:cs typeface="Calibri"/>
                <a:sym typeface="Calibri"/>
              </a:rPr>
              <a:t>Semantic CV parsing, entity extraction, and merit-based candidate–job matching.</a:t>
            </a:r>
            <a:endParaRPr sz="850">
              <a:solidFill>
                <a:schemeClr val="dk1"/>
              </a:solidFill>
              <a:latin typeface="Calibri"/>
              <a:ea typeface="Calibri"/>
              <a:cs typeface="Calibri"/>
              <a:sym typeface="Calibri"/>
            </a:endParaRPr>
          </a:p>
        </p:txBody>
      </p:sp>
      <p:sp>
        <p:nvSpPr>
          <p:cNvPr id="283" name="Google Shape;283;p11"/>
          <p:cNvSpPr/>
          <p:nvPr/>
        </p:nvSpPr>
        <p:spPr>
          <a:xfrm>
            <a:off x="2880360" y="3392424"/>
            <a:ext cx="18288" cy="54864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1"/>
          <p:cNvSpPr/>
          <p:nvPr/>
        </p:nvSpPr>
        <p:spPr>
          <a:xfrm>
            <a:off x="4800600" y="3300984"/>
            <a:ext cx="4114800" cy="73152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5" name="Google Shape;285;p11"/>
          <p:cNvPicPr preferRelativeResize="0"/>
          <p:nvPr/>
        </p:nvPicPr>
        <p:blipFill rotWithShape="1">
          <a:blip r:embed="rId8">
            <a:alphaModFix/>
          </a:blip>
          <a:srcRect b="0" l="0" r="0" t="0"/>
          <a:stretch/>
        </p:blipFill>
        <p:spPr>
          <a:xfrm>
            <a:off x="4946904" y="3456432"/>
            <a:ext cx="347472" cy="347472"/>
          </a:xfrm>
          <a:prstGeom prst="rect">
            <a:avLst/>
          </a:prstGeom>
          <a:noFill/>
          <a:ln>
            <a:noFill/>
          </a:ln>
        </p:spPr>
      </p:pic>
      <p:sp>
        <p:nvSpPr>
          <p:cNvPr id="286" name="Google Shape;286;p11"/>
          <p:cNvSpPr/>
          <p:nvPr/>
        </p:nvSpPr>
        <p:spPr>
          <a:xfrm>
            <a:off x="5468112" y="3346704"/>
            <a:ext cx="1737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1100"/>
              <a:buFont typeface="Calibri"/>
              <a:buNone/>
            </a:pPr>
            <a:r>
              <a:rPr b="1" lang="en-US" sz="1100">
                <a:solidFill>
                  <a:srgbClr val="3B82F6"/>
                </a:solidFill>
                <a:latin typeface="Calibri"/>
                <a:ea typeface="Calibri"/>
                <a:cs typeface="Calibri"/>
                <a:sym typeface="Calibri"/>
              </a:rPr>
              <a:t>Scikit-learn</a:t>
            </a:r>
            <a:endParaRPr sz="1100">
              <a:solidFill>
                <a:schemeClr val="dk1"/>
              </a:solidFill>
              <a:latin typeface="Calibri"/>
              <a:ea typeface="Calibri"/>
              <a:cs typeface="Calibri"/>
              <a:sym typeface="Calibri"/>
            </a:endParaRPr>
          </a:p>
        </p:txBody>
      </p:sp>
      <p:sp>
        <p:nvSpPr>
          <p:cNvPr id="287" name="Google Shape;287;p11"/>
          <p:cNvSpPr/>
          <p:nvPr/>
        </p:nvSpPr>
        <p:spPr>
          <a:xfrm>
            <a:off x="5468112" y="3611880"/>
            <a:ext cx="17373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i="1" lang="en-US" sz="900">
                <a:solidFill>
                  <a:srgbClr val="64748B"/>
                </a:solidFill>
                <a:latin typeface="Calibri"/>
                <a:ea typeface="Calibri"/>
                <a:cs typeface="Calibri"/>
                <a:sym typeface="Calibri"/>
              </a:rPr>
              <a:t>ML Framework</a:t>
            </a:r>
            <a:endParaRPr sz="900">
              <a:solidFill>
                <a:schemeClr val="dk1"/>
              </a:solidFill>
              <a:latin typeface="Calibri"/>
              <a:ea typeface="Calibri"/>
              <a:cs typeface="Calibri"/>
              <a:sym typeface="Calibri"/>
            </a:endParaRPr>
          </a:p>
        </p:txBody>
      </p:sp>
      <p:sp>
        <p:nvSpPr>
          <p:cNvPr id="288" name="Google Shape;288;p11"/>
          <p:cNvSpPr/>
          <p:nvPr/>
        </p:nvSpPr>
        <p:spPr>
          <a:xfrm>
            <a:off x="7287768" y="3355848"/>
            <a:ext cx="155448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alibri"/>
              <a:buNone/>
            </a:pPr>
            <a:r>
              <a:rPr lang="en-US" sz="850">
                <a:solidFill>
                  <a:srgbClr val="1E293B"/>
                </a:solidFill>
                <a:latin typeface="Calibri"/>
                <a:ea typeface="Calibri"/>
                <a:cs typeface="Calibri"/>
                <a:sym typeface="Calibri"/>
              </a:rPr>
              <a:t>SVM, Random Forest, and Logistic Regression for candidate ranking and scoring.</a:t>
            </a:r>
            <a:endParaRPr sz="850">
              <a:solidFill>
                <a:schemeClr val="dk1"/>
              </a:solidFill>
              <a:latin typeface="Calibri"/>
              <a:ea typeface="Calibri"/>
              <a:cs typeface="Calibri"/>
              <a:sym typeface="Calibri"/>
            </a:endParaRPr>
          </a:p>
        </p:txBody>
      </p:sp>
      <p:sp>
        <p:nvSpPr>
          <p:cNvPr id="289" name="Google Shape;289;p11"/>
          <p:cNvSpPr/>
          <p:nvPr/>
        </p:nvSpPr>
        <p:spPr>
          <a:xfrm>
            <a:off x="7223760" y="3392424"/>
            <a:ext cx="18288" cy="54864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1"/>
          <p:cNvSpPr/>
          <p:nvPr/>
        </p:nvSpPr>
        <p:spPr>
          <a:xfrm>
            <a:off x="457200" y="4105656"/>
            <a:ext cx="4114800" cy="73152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1" name="Google Shape;291;p11"/>
          <p:cNvPicPr preferRelativeResize="0"/>
          <p:nvPr/>
        </p:nvPicPr>
        <p:blipFill rotWithShape="1">
          <a:blip r:embed="rId9">
            <a:alphaModFix/>
          </a:blip>
          <a:srcRect b="0" l="0" r="0" t="0"/>
          <a:stretch/>
        </p:blipFill>
        <p:spPr>
          <a:xfrm>
            <a:off x="603504" y="4261104"/>
            <a:ext cx="347472" cy="347472"/>
          </a:xfrm>
          <a:prstGeom prst="rect">
            <a:avLst/>
          </a:prstGeom>
          <a:noFill/>
          <a:ln>
            <a:noFill/>
          </a:ln>
        </p:spPr>
      </p:pic>
      <p:sp>
        <p:nvSpPr>
          <p:cNvPr id="292" name="Google Shape;292;p11"/>
          <p:cNvSpPr/>
          <p:nvPr/>
        </p:nvSpPr>
        <p:spPr>
          <a:xfrm>
            <a:off x="1124712" y="4151376"/>
            <a:ext cx="1737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1100"/>
              <a:buFont typeface="Calibri"/>
              <a:buNone/>
            </a:pPr>
            <a:r>
              <a:rPr b="1" lang="en-US" sz="1100">
                <a:solidFill>
                  <a:srgbClr val="1B3A6B"/>
                </a:solidFill>
                <a:latin typeface="Calibri"/>
                <a:ea typeface="Calibri"/>
                <a:cs typeface="Calibri"/>
                <a:sym typeface="Calibri"/>
              </a:rPr>
              <a:t>SHAP / LIME</a:t>
            </a:r>
            <a:endParaRPr sz="1100">
              <a:solidFill>
                <a:schemeClr val="dk1"/>
              </a:solidFill>
              <a:latin typeface="Calibri"/>
              <a:ea typeface="Calibri"/>
              <a:cs typeface="Calibri"/>
              <a:sym typeface="Calibri"/>
            </a:endParaRPr>
          </a:p>
        </p:txBody>
      </p:sp>
      <p:sp>
        <p:nvSpPr>
          <p:cNvPr id="293" name="Google Shape;293;p11"/>
          <p:cNvSpPr/>
          <p:nvPr/>
        </p:nvSpPr>
        <p:spPr>
          <a:xfrm>
            <a:off x="1124712" y="4416552"/>
            <a:ext cx="17373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i="1" lang="en-US" sz="900">
                <a:solidFill>
                  <a:srgbClr val="64748B"/>
                </a:solidFill>
                <a:latin typeface="Calibri"/>
                <a:ea typeface="Calibri"/>
                <a:cs typeface="Calibri"/>
                <a:sym typeface="Calibri"/>
              </a:rPr>
              <a:t>Explainability (XAI) &amp; Feedback</a:t>
            </a:r>
            <a:endParaRPr sz="900">
              <a:solidFill>
                <a:schemeClr val="dk1"/>
              </a:solidFill>
              <a:latin typeface="Calibri"/>
              <a:ea typeface="Calibri"/>
              <a:cs typeface="Calibri"/>
              <a:sym typeface="Calibri"/>
            </a:endParaRPr>
          </a:p>
        </p:txBody>
      </p:sp>
      <p:sp>
        <p:nvSpPr>
          <p:cNvPr id="294" name="Google Shape;294;p11"/>
          <p:cNvSpPr/>
          <p:nvPr/>
        </p:nvSpPr>
        <p:spPr>
          <a:xfrm>
            <a:off x="2944368" y="4160520"/>
            <a:ext cx="155448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alibri"/>
              <a:buNone/>
            </a:pPr>
            <a:r>
              <a:rPr lang="en-US" sz="850">
                <a:solidFill>
                  <a:srgbClr val="1E293B"/>
                </a:solidFill>
                <a:latin typeface="Calibri"/>
                <a:ea typeface="Calibri"/>
                <a:cs typeface="Calibri"/>
                <a:sym typeface="Calibri"/>
              </a:rPr>
              <a:t>Generates transparent ranking explanations powering the applicant feedback reports.</a:t>
            </a:r>
            <a:endParaRPr sz="850">
              <a:solidFill>
                <a:schemeClr val="dk1"/>
              </a:solidFill>
              <a:latin typeface="Calibri"/>
              <a:ea typeface="Calibri"/>
              <a:cs typeface="Calibri"/>
              <a:sym typeface="Calibri"/>
            </a:endParaRPr>
          </a:p>
        </p:txBody>
      </p:sp>
      <p:sp>
        <p:nvSpPr>
          <p:cNvPr id="295" name="Google Shape;295;p11"/>
          <p:cNvSpPr/>
          <p:nvPr/>
        </p:nvSpPr>
        <p:spPr>
          <a:xfrm>
            <a:off x="2880360" y="4197096"/>
            <a:ext cx="18288" cy="54864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1"/>
          <p:cNvSpPr/>
          <p:nvPr/>
        </p:nvSpPr>
        <p:spPr>
          <a:xfrm>
            <a:off x="4800600" y="4105656"/>
            <a:ext cx="4114800" cy="73152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7" name="Google Shape;297;p11"/>
          <p:cNvPicPr preferRelativeResize="0"/>
          <p:nvPr/>
        </p:nvPicPr>
        <p:blipFill rotWithShape="1">
          <a:blip r:embed="rId10">
            <a:alphaModFix/>
          </a:blip>
          <a:srcRect b="0" l="0" r="0" t="0"/>
          <a:stretch/>
        </p:blipFill>
        <p:spPr>
          <a:xfrm>
            <a:off x="4946904" y="4261104"/>
            <a:ext cx="347472" cy="347472"/>
          </a:xfrm>
          <a:prstGeom prst="rect">
            <a:avLst/>
          </a:prstGeom>
          <a:noFill/>
          <a:ln>
            <a:noFill/>
          </a:ln>
        </p:spPr>
      </p:pic>
      <p:sp>
        <p:nvSpPr>
          <p:cNvPr id="298" name="Google Shape;298;p11"/>
          <p:cNvSpPr/>
          <p:nvPr/>
        </p:nvSpPr>
        <p:spPr>
          <a:xfrm>
            <a:off x="5468112" y="4151376"/>
            <a:ext cx="1737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100"/>
              <a:buFont typeface="Calibri"/>
              <a:buNone/>
            </a:pPr>
            <a:r>
              <a:rPr b="1" lang="en-US" sz="1100">
                <a:solidFill>
                  <a:srgbClr val="DC2626"/>
                </a:solidFill>
                <a:latin typeface="Calibri"/>
                <a:ea typeface="Calibri"/>
                <a:cs typeface="Calibri"/>
                <a:sym typeface="Calibri"/>
              </a:rPr>
              <a:t>Fairlearn / AIF360</a:t>
            </a:r>
            <a:endParaRPr sz="1100">
              <a:solidFill>
                <a:schemeClr val="dk1"/>
              </a:solidFill>
              <a:latin typeface="Calibri"/>
              <a:ea typeface="Calibri"/>
              <a:cs typeface="Calibri"/>
              <a:sym typeface="Calibri"/>
            </a:endParaRPr>
          </a:p>
        </p:txBody>
      </p:sp>
      <p:sp>
        <p:nvSpPr>
          <p:cNvPr id="299" name="Google Shape;299;p11"/>
          <p:cNvSpPr/>
          <p:nvPr/>
        </p:nvSpPr>
        <p:spPr>
          <a:xfrm>
            <a:off x="5468112" y="4416552"/>
            <a:ext cx="17373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i="1" lang="en-US" sz="900">
                <a:solidFill>
                  <a:srgbClr val="64748B"/>
                </a:solidFill>
                <a:latin typeface="Calibri"/>
                <a:ea typeface="Calibri"/>
                <a:cs typeface="Calibri"/>
                <a:sym typeface="Calibri"/>
              </a:rPr>
              <a:t>Bias Detection &amp; Mitigation</a:t>
            </a:r>
            <a:endParaRPr sz="900">
              <a:solidFill>
                <a:schemeClr val="dk1"/>
              </a:solidFill>
              <a:latin typeface="Calibri"/>
              <a:ea typeface="Calibri"/>
              <a:cs typeface="Calibri"/>
              <a:sym typeface="Calibri"/>
            </a:endParaRPr>
          </a:p>
        </p:txBody>
      </p:sp>
      <p:sp>
        <p:nvSpPr>
          <p:cNvPr id="300" name="Google Shape;300;p11"/>
          <p:cNvSpPr/>
          <p:nvPr/>
        </p:nvSpPr>
        <p:spPr>
          <a:xfrm>
            <a:off x="7287768" y="4160520"/>
            <a:ext cx="155448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alibri"/>
              <a:buNone/>
            </a:pPr>
            <a:r>
              <a:rPr lang="en-US" sz="850">
                <a:solidFill>
                  <a:srgbClr val="1E293B"/>
                </a:solidFill>
                <a:latin typeface="Calibri"/>
                <a:ea typeface="Calibri"/>
                <a:cs typeface="Calibri"/>
                <a:sym typeface="Calibri"/>
              </a:rPr>
              <a:t>Industry-standard fairness toolkit to audit, detect, and correct bias across all protected attributes.</a:t>
            </a:r>
            <a:endParaRPr sz="850">
              <a:solidFill>
                <a:schemeClr val="dk1"/>
              </a:solidFill>
              <a:latin typeface="Calibri"/>
              <a:ea typeface="Calibri"/>
              <a:cs typeface="Calibri"/>
              <a:sym typeface="Calibri"/>
            </a:endParaRPr>
          </a:p>
        </p:txBody>
      </p:sp>
      <p:sp>
        <p:nvSpPr>
          <p:cNvPr id="301" name="Google Shape;301;p11"/>
          <p:cNvSpPr/>
          <p:nvPr/>
        </p:nvSpPr>
        <p:spPr>
          <a:xfrm>
            <a:off x="7223760" y="4197096"/>
            <a:ext cx="18288" cy="54864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1B3A6B"/>
        </a:solidFill>
      </p:bgPr>
    </p:bg>
    <p:spTree>
      <p:nvGrpSpPr>
        <p:cNvPr id="306" name="Shape 306"/>
        <p:cNvGrpSpPr/>
        <p:nvPr/>
      </p:nvGrpSpPr>
      <p:grpSpPr>
        <a:xfrm>
          <a:off x="0" y="0"/>
          <a:ext cx="0" cy="0"/>
          <a:chOff x="0" y="0"/>
          <a:chExt cx="0" cy="0"/>
        </a:xfrm>
      </p:grpSpPr>
      <p:sp>
        <p:nvSpPr>
          <p:cNvPr id="307" name="Google Shape;307;p12"/>
          <p:cNvSpPr/>
          <p:nvPr/>
        </p:nvSpPr>
        <p:spPr>
          <a:xfrm>
            <a:off x="0" y="0"/>
            <a:ext cx="9144000" cy="1098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2"/>
          <p:cNvSpPr/>
          <p:nvPr/>
        </p:nvSpPr>
        <p:spPr>
          <a:xfrm>
            <a:off x="457200" y="274320"/>
            <a:ext cx="1828800" cy="3201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2"/>
          <p:cNvSpPr/>
          <p:nvPr/>
        </p:nvSpPr>
        <p:spPr>
          <a:xfrm>
            <a:off x="457200" y="274320"/>
            <a:ext cx="18288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3A6B"/>
              </a:buClr>
              <a:buSzPts val="1000"/>
              <a:buFont typeface="Calibri"/>
              <a:buNone/>
            </a:pPr>
            <a:r>
              <a:rPr b="1" lang="en-US" sz="1000">
                <a:solidFill>
                  <a:srgbClr val="1B3A6B"/>
                </a:solidFill>
                <a:latin typeface="Calibri"/>
                <a:ea typeface="Calibri"/>
                <a:cs typeface="Calibri"/>
                <a:sym typeface="Calibri"/>
              </a:rPr>
              <a:t>CONCLUSION</a:t>
            </a:r>
            <a:endParaRPr sz="1000">
              <a:solidFill>
                <a:schemeClr val="dk1"/>
              </a:solidFill>
              <a:latin typeface="Calibri"/>
              <a:ea typeface="Calibri"/>
              <a:cs typeface="Calibri"/>
              <a:sym typeface="Calibri"/>
            </a:endParaRPr>
          </a:p>
        </p:txBody>
      </p:sp>
      <p:sp>
        <p:nvSpPr>
          <p:cNvPr id="310" name="Google Shape;310;p12"/>
          <p:cNvSpPr/>
          <p:nvPr/>
        </p:nvSpPr>
        <p:spPr>
          <a:xfrm>
            <a:off x="457200" y="731520"/>
            <a:ext cx="8229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lang="en-US" sz="3000">
                <a:solidFill>
                  <a:srgbClr val="FFFFFF"/>
                </a:solidFill>
                <a:latin typeface="Calibri"/>
                <a:ea typeface="Calibri"/>
                <a:cs typeface="Calibri"/>
                <a:sym typeface="Calibri"/>
              </a:rPr>
              <a:t>Conclusion</a:t>
            </a:r>
            <a:endParaRPr sz="3000">
              <a:solidFill>
                <a:schemeClr val="dk1"/>
              </a:solidFill>
              <a:latin typeface="Calibri"/>
              <a:ea typeface="Calibri"/>
              <a:cs typeface="Calibri"/>
              <a:sym typeface="Calibri"/>
            </a:endParaRPr>
          </a:p>
        </p:txBody>
      </p:sp>
      <p:sp>
        <p:nvSpPr>
          <p:cNvPr id="311" name="Google Shape;311;p12"/>
          <p:cNvSpPr/>
          <p:nvPr/>
        </p:nvSpPr>
        <p:spPr>
          <a:xfrm>
            <a:off x="457200" y="1261872"/>
            <a:ext cx="1371600" cy="549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2"/>
          <p:cNvSpPr/>
          <p:nvPr/>
        </p:nvSpPr>
        <p:spPr>
          <a:xfrm>
            <a:off x="457200" y="1417320"/>
            <a:ext cx="5760600" cy="3429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BD5E1"/>
              </a:buClr>
              <a:buSzPts val="1200"/>
              <a:buFont typeface="Calibri"/>
              <a:buNone/>
            </a:pPr>
            <a:r>
              <a:rPr lang="en-US" sz="1200">
                <a:solidFill>
                  <a:srgbClr val="CBD5E1"/>
                </a:solidFill>
                <a:latin typeface="Calibri"/>
                <a:ea typeface="Calibri"/>
                <a:cs typeface="Calibri"/>
                <a:sym typeface="Calibri"/>
              </a:rPr>
              <a:t>This project proposes a comprehensive Intelligent Decision-Support System for Recruitment that combines NLP, Machine Learning, Explainable AI, and a multi-layered bias removal framework.</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CBD5E1"/>
              </a:buClr>
              <a:buSzPts val="1200"/>
              <a:buFont typeface="Calibri"/>
              <a:buNone/>
            </a:pPr>
            <a:r>
              <a:rPr lang="en-US" sz="1200">
                <a:solidFill>
                  <a:srgbClr val="CBD5E1"/>
                </a:solidFill>
                <a:latin typeface="Calibri"/>
                <a:ea typeface="Calibri"/>
                <a:cs typeface="Calibri"/>
                <a:sym typeface="Calibri"/>
              </a:rPr>
              <a:t>The system goes beyond simple automation — it actively eliminates racial, nationality, gender, age, educational, disability, and socioeconomic bias before a single candidate is scored, ensuring every applicant is assessed exclusively on their skills and merit.</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CBD5E1"/>
              </a:buClr>
              <a:buSzPts val="1200"/>
              <a:buFont typeface="Calibri"/>
              <a:buNone/>
            </a:pPr>
            <a:r>
              <a:rPr lang="en-US" sz="1200">
                <a:solidFill>
                  <a:srgbClr val="CBD5E1"/>
                </a:solidFill>
                <a:latin typeface="Calibri"/>
                <a:ea typeface="Calibri"/>
                <a:cs typeface="Calibri"/>
                <a:sym typeface="Calibri"/>
              </a:rPr>
              <a:t>Critically, every applicant — whether successful or not — receives a transparent, personalised feedback report explaining their score, highlighting skill gaps, and providing actionable improvement guidance. This closes a long-standing gap in recruitment ethics.</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CBD5E1"/>
              </a:buClr>
              <a:buSzPts val="1200"/>
              <a:buFont typeface="Calibri"/>
              <a:buNone/>
            </a:pPr>
            <a:r>
              <a:rPr lang="en-US" sz="1200">
                <a:solidFill>
                  <a:srgbClr val="CBD5E1"/>
                </a:solidFill>
                <a:latin typeface="Calibri"/>
                <a:ea typeface="Calibri"/>
                <a:cs typeface="Calibri"/>
                <a:sym typeface="Calibri"/>
              </a:rPr>
              <a:t>Together, these features make the IDSS a genuinely equitable, efficient, and explainable solution for modern HR practice.</a:t>
            </a:r>
            <a:endParaRPr sz="1200">
              <a:solidFill>
                <a:schemeClr val="dk1"/>
              </a:solidFill>
              <a:latin typeface="Calibri"/>
              <a:ea typeface="Calibri"/>
              <a:cs typeface="Calibri"/>
              <a:sym typeface="Calibri"/>
            </a:endParaRPr>
          </a:p>
        </p:txBody>
      </p:sp>
      <p:sp>
        <p:nvSpPr>
          <p:cNvPr id="313" name="Google Shape;313;p12"/>
          <p:cNvSpPr/>
          <p:nvPr/>
        </p:nvSpPr>
        <p:spPr>
          <a:xfrm>
            <a:off x="6492240" y="1417320"/>
            <a:ext cx="2194500" cy="594300"/>
          </a:xfrm>
          <a:prstGeom prst="rect">
            <a:avLst/>
          </a:prstGeom>
          <a:solidFill>
            <a:srgbClr val="152D55"/>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2"/>
          <p:cNvSpPr/>
          <p:nvPr/>
        </p:nvSpPr>
        <p:spPr>
          <a:xfrm>
            <a:off x="6492240" y="1417320"/>
            <a:ext cx="73200" cy="5943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2"/>
          <p:cNvSpPr/>
          <p:nvPr/>
        </p:nvSpPr>
        <p:spPr>
          <a:xfrm>
            <a:off x="6629400" y="1417320"/>
            <a:ext cx="19935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150"/>
              <a:buFont typeface="Calibri"/>
              <a:buNone/>
            </a:pPr>
            <a:r>
              <a:rPr b="1" lang="en-US" sz="1150">
                <a:solidFill>
                  <a:srgbClr val="0D9488"/>
                </a:solidFill>
                <a:latin typeface="Calibri"/>
                <a:ea typeface="Calibri"/>
                <a:cs typeface="Calibri"/>
                <a:sym typeface="Calibri"/>
              </a:rPr>
              <a:t>Automated Screening</a:t>
            </a:r>
            <a:endParaRPr sz="1150">
              <a:solidFill>
                <a:schemeClr val="dk1"/>
              </a:solidFill>
              <a:latin typeface="Calibri"/>
              <a:ea typeface="Calibri"/>
              <a:cs typeface="Calibri"/>
              <a:sym typeface="Calibri"/>
            </a:endParaRPr>
          </a:p>
        </p:txBody>
      </p:sp>
      <p:sp>
        <p:nvSpPr>
          <p:cNvPr id="316" name="Google Shape;316;p12"/>
          <p:cNvSpPr/>
          <p:nvPr/>
        </p:nvSpPr>
        <p:spPr>
          <a:xfrm>
            <a:off x="6492240" y="2112264"/>
            <a:ext cx="2194500" cy="594300"/>
          </a:xfrm>
          <a:prstGeom prst="rect">
            <a:avLst/>
          </a:prstGeom>
          <a:solidFill>
            <a:srgbClr val="152D55"/>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2"/>
          <p:cNvSpPr/>
          <p:nvPr/>
        </p:nvSpPr>
        <p:spPr>
          <a:xfrm>
            <a:off x="6492240" y="2112264"/>
            <a:ext cx="73200" cy="5943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2"/>
          <p:cNvSpPr/>
          <p:nvPr/>
        </p:nvSpPr>
        <p:spPr>
          <a:xfrm>
            <a:off x="6629400" y="2112264"/>
            <a:ext cx="19935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150"/>
              <a:buFont typeface="Calibri"/>
              <a:buNone/>
            </a:pPr>
            <a:r>
              <a:rPr b="1" lang="en-US" sz="1150">
                <a:solidFill>
                  <a:srgbClr val="DC2626"/>
                </a:solidFill>
                <a:latin typeface="Calibri"/>
                <a:ea typeface="Calibri"/>
                <a:cs typeface="Calibri"/>
                <a:sym typeface="Calibri"/>
              </a:rPr>
              <a:t>8-Dimension Bias Guard</a:t>
            </a:r>
            <a:endParaRPr sz="1150">
              <a:solidFill>
                <a:schemeClr val="dk1"/>
              </a:solidFill>
              <a:latin typeface="Calibri"/>
              <a:ea typeface="Calibri"/>
              <a:cs typeface="Calibri"/>
              <a:sym typeface="Calibri"/>
            </a:endParaRPr>
          </a:p>
        </p:txBody>
      </p:sp>
      <p:sp>
        <p:nvSpPr>
          <p:cNvPr id="319" name="Google Shape;319;p12"/>
          <p:cNvSpPr/>
          <p:nvPr/>
        </p:nvSpPr>
        <p:spPr>
          <a:xfrm>
            <a:off x="6492240" y="2807208"/>
            <a:ext cx="2194500" cy="594300"/>
          </a:xfrm>
          <a:prstGeom prst="rect">
            <a:avLst/>
          </a:prstGeom>
          <a:solidFill>
            <a:srgbClr val="152D55"/>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2"/>
          <p:cNvSpPr/>
          <p:nvPr/>
        </p:nvSpPr>
        <p:spPr>
          <a:xfrm>
            <a:off x="6492240" y="2807208"/>
            <a:ext cx="73200" cy="594300"/>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2"/>
          <p:cNvSpPr/>
          <p:nvPr/>
        </p:nvSpPr>
        <p:spPr>
          <a:xfrm>
            <a:off x="6629400" y="2807208"/>
            <a:ext cx="19935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1150"/>
              <a:buFont typeface="Calibri"/>
              <a:buNone/>
            </a:pPr>
            <a:r>
              <a:rPr b="1" lang="en-US" sz="1150">
                <a:solidFill>
                  <a:srgbClr val="3B82F6"/>
                </a:solidFill>
                <a:latin typeface="Calibri"/>
                <a:ea typeface="Calibri"/>
                <a:cs typeface="Calibri"/>
                <a:sym typeface="Calibri"/>
              </a:rPr>
              <a:t>XAI Transparency</a:t>
            </a:r>
            <a:endParaRPr sz="1150">
              <a:solidFill>
                <a:schemeClr val="dk1"/>
              </a:solidFill>
              <a:latin typeface="Calibri"/>
              <a:ea typeface="Calibri"/>
              <a:cs typeface="Calibri"/>
              <a:sym typeface="Calibri"/>
            </a:endParaRPr>
          </a:p>
        </p:txBody>
      </p:sp>
      <p:sp>
        <p:nvSpPr>
          <p:cNvPr id="322" name="Google Shape;322;p12"/>
          <p:cNvSpPr/>
          <p:nvPr/>
        </p:nvSpPr>
        <p:spPr>
          <a:xfrm>
            <a:off x="6492240" y="3502152"/>
            <a:ext cx="2194500" cy="594300"/>
          </a:xfrm>
          <a:prstGeom prst="rect">
            <a:avLst/>
          </a:prstGeom>
          <a:solidFill>
            <a:srgbClr val="152D55"/>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2"/>
          <p:cNvSpPr/>
          <p:nvPr/>
        </p:nvSpPr>
        <p:spPr>
          <a:xfrm>
            <a:off x="6492240" y="3502152"/>
            <a:ext cx="73200" cy="594300"/>
          </a:xfrm>
          <a:prstGeom prst="rect">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2"/>
          <p:cNvSpPr/>
          <p:nvPr/>
        </p:nvSpPr>
        <p:spPr>
          <a:xfrm>
            <a:off x="6629400" y="3502152"/>
            <a:ext cx="19935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1150"/>
              <a:buFont typeface="Calibri"/>
              <a:buNone/>
            </a:pPr>
            <a:r>
              <a:rPr b="1" lang="en-US" sz="1150">
                <a:solidFill>
                  <a:srgbClr val="059669"/>
                </a:solidFill>
                <a:latin typeface="Calibri"/>
                <a:ea typeface="Calibri"/>
                <a:cs typeface="Calibri"/>
                <a:sym typeface="Calibri"/>
              </a:rPr>
              <a:t>Applicant Feedback</a:t>
            </a:r>
            <a:endParaRPr sz="1150">
              <a:solidFill>
                <a:schemeClr val="dk1"/>
              </a:solidFill>
              <a:latin typeface="Calibri"/>
              <a:ea typeface="Calibri"/>
              <a:cs typeface="Calibri"/>
              <a:sym typeface="Calibri"/>
            </a:endParaRPr>
          </a:p>
        </p:txBody>
      </p:sp>
      <p:sp>
        <p:nvSpPr>
          <p:cNvPr id="325" name="Google Shape;325;p12"/>
          <p:cNvSpPr/>
          <p:nvPr/>
        </p:nvSpPr>
        <p:spPr>
          <a:xfrm>
            <a:off x="6492240" y="4197096"/>
            <a:ext cx="2194500" cy="594300"/>
          </a:xfrm>
          <a:prstGeom prst="rect">
            <a:avLst/>
          </a:prstGeom>
          <a:solidFill>
            <a:srgbClr val="152D55"/>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2"/>
          <p:cNvSpPr/>
          <p:nvPr/>
        </p:nvSpPr>
        <p:spPr>
          <a:xfrm>
            <a:off x="6492240" y="4197096"/>
            <a:ext cx="73200" cy="594300"/>
          </a:xfrm>
          <a:prstGeom prst="rect">
            <a:avLst/>
          </a:prstGeom>
          <a:solidFill>
            <a:srgbClr val="A78BFA"/>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2"/>
          <p:cNvSpPr/>
          <p:nvPr/>
        </p:nvSpPr>
        <p:spPr>
          <a:xfrm>
            <a:off x="6629400" y="4197096"/>
            <a:ext cx="19935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78BFA"/>
              </a:buClr>
              <a:buSzPts val="1150"/>
              <a:buFont typeface="Calibri"/>
              <a:buNone/>
            </a:pPr>
            <a:r>
              <a:rPr b="1" lang="en-US" sz="1150">
                <a:solidFill>
                  <a:srgbClr val="A78BFA"/>
                </a:solidFill>
                <a:latin typeface="Calibri"/>
                <a:ea typeface="Calibri"/>
                <a:cs typeface="Calibri"/>
                <a:sym typeface="Calibri"/>
              </a:rPr>
              <a:t>HR Decision Support</a:t>
            </a:r>
            <a:endParaRPr sz="115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32" name="Shape 332"/>
        <p:cNvGrpSpPr/>
        <p:nvPr/>
      </p:nvGrpSpPr>
      <p:grpSpPr>
        <a:xfrm>
          <a:off x="0" y="0"/>
          <a:ext cx="0" cy="0"/>
          <a:chOff x="0" y="0"/>
          <a:chExt cx="0" cy="0"/>
        </a:xfrm>
      </p:grpSpPr>
      <p:sp>
        <p:nvSpPr>
          <p:cNvPr id="333" name="Google Shape;333;p13"/>
          <p:cNvSpPr/>
          <p:nvPr/>
        </p:nvSpPr>
        <p:spPr>
          <a:xfrm>
            <a:off x="457200" y="228600"/>
            <a:ext cx="2926080" cy="329184"/>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3"/>
          <p:cNvSpPr/>
          <p:nvPr/>
        </p:nvSpPr>
        <p:spPr>
          <a:xfrm>
            <a:off x="457200" y="228600"/>
            <a:ext cx="292608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REFERENCES</a:t>
            </a:r>
            <a:endParaRPr sz="950">
              <a:solidFill>
                <a:schemeClr val="dk1"/>
              </a:solidFill>
              <a:latin typeface="Calibri"/>
              <a:ea typeface="Calibri"/>
              <a:cs typeface="Calibri"/>
              <a:sym typeface="Calibri"/>
            </a:endParaRPr>
          </a:p>
        </p:txBody>
      </p:sp>
      <p:sp>
        <p:nvSpPr>
          <p:cNvPr id="335" name="Google Shape;335;p13"/>
          <p:cNvSpPr/>
          <p:nvPr/>
        </p:nvSpPr>
        <p:spPr>
          <a:xfrm>
            <a:off x="457200" y="658368"/>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800"/>
              <a:buFont typeface="Calibri"/>
              <a:buNone/>
            </a:pPr>
            <a:r>
              <a:rPr b="1" lang="en-US" sz="2800">
                <a:solidFill>
                  <a:srgbClr val="1B3A6B"/>
                </a:solidFill>
                <a:latin typeface="Calibri"/>
                <a:ea typeface="Calibri"/>
                <a:cs typeface="Calibri"/>
                <a:sym typeface="Calibri"/>
              </a:rPr>
              <a:t>References</a:t>
            </a:r>
            <a:endParaRPr sz="2800">
              <a:solidFill>
                <a:schemeClr val="dk1"/>
              </a:solidFill>
              <a:latin typeface="Calibri"/>
              <a:ea typeface="Calibri"/>
              <a:cs typeface="Calibri"/>
              <a:sym typeface="Calibri"/>
            </a:endParaRPr>
          </a:p>
        </p:txBody>
      </p:sp>
      <p:sp>
        <p:nvSpPr>
          <p:cNvPr id="336" name="Google Shape;336;p13"/>
          <p:cNvSpPr/>
          <p:nvPr/>
        </p:nvSpPr>
        <p:spPr>
          <a:xfrm>
            <a:off x="457200" y="1746504"/>
            <a:ext cx="292608" cy="292608"/>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3"/>
          <p:cNvSpPr/>
          <p:nvPr/>
        </p:nvSpPr>
        <p:spPr>
          <a:xfrm>
            <a:off x="457200" y="174650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1</a:t>
            </a:r>
            <a:endParaRPr sz="900">
              <a:solidFill>
                <a:schemeClr val="dk1"/>
              </a:solidFill>
              <a:latin typeface="Calibri"/>
              <a:ea typeface="Calibri"/>
              <a:cs typeface="Calibri"/>
              <a:sym typeface="Calibri"/>
            </a:endParaRPr>
          </a:p>
        </p:txBody>
      </p:sp>
      <p:sp>
        <p:nvSpPr>
          <p:cNvPr id="338" name="Google Shape;338;p13"/>
          <p:cNvSpPr/>
          <p:nvPr/>
        </p:nvSpPr>
        <p:spPr>
          <a:xfrm>
            <a:off x="868680" y="1691640"/>
            <a:ext cx="7818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lang="en-US" sz="1000">
                <a:solidFill>
                  <a:srgbClr val="1E293B"/>
                </a:solidFill>
                <a:latin typeface="Calibri"/>
                <a:ea typeface="Calibri"/>
                <a:cs typeface="Calibri"/>
                <a:sym typeface="Calibri"/>
              </a:rPr>
              <a:t>Najjar, M. et al. (2022). An Intelligent Decision Support System for Recruitment. ResearchGate.</a:t>
            </a:r>
            <a:endParaRPr sz="1000">
              <a:solidFill>
                <a:schemeClr val="dk1"/>
              </a:solidFill>
              <a:latin typeface="Calibri"/>
              <a:ea typeface="Calibri"/>
              <a:cs typeface="Calibri"/>
              <a:sym typeface="Calibri"/>
            </a:endParaRPr>
          </a:p>
        </p:txBody>
      </p:sp>
      <p:sp>
        <p:nvSpPr>
          <p:cNvPr id="339" name="Google Shape;339;p13"/>
          <p:cNvSpPr/>
          <p:nvPr/>
        </p:nvSpPr>
        <p:spPr>
          <a:xfrm>
            <a:off x="457200" y="2249424"/>
            <a:ext cx="292608" cy="292608"/>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3"/>
          <p:cNvSpPr/>
          <p:nvPr/>
        </p:nvSpPr>
        <p:spPr>
          <a:xfrm>
            <a:off x="457200" y="22494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2</a:t>
            </a:r>
            <a:endParaRPr sz="900">
              <a:solidFill>
                <a:schemeClr val="dk1"/>
              </a:solidFill>
              <a:latin typeface="Calibri"/>
              <a:ea typeface="Calibri"/>
              <a:cs typeface="Calibri"/>
              <a:sym typeface="Calibri"/>
            </a:endParaRPr>
          </a:p>
        </p:txBody>
      </p:sp>
      <p:sp>
        <p:nvSpPr>
          <p:cNvPr id="341" name="Google Shape;341;p13"/>
          <p:cNvSpPr/>
          <p:nvPr/>
        </p:nvSpPr>
        <p:spPr>
          <a:xfrm>
            <a:off x="868680" y="2194560"/>
            <a:ext cx="7818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lang="en-US" sz="1000">
                <a:solidFill>
                  <a:srgbClr val="1E293B"/>
                </a:solidFill>
                <a:latin typeface="Calibri"/>
                <a:ea typeface="Calibri"/>
                <a:cs typeface="Calibri"/>
                <a:sym typeface="Calibri"/>
              </a:rPr>
              <a:t>Tejaswini, K. et al. (2022). Design and Development of Machine Learning Based Resume Ranking System. Global Transitions Proceedings.</a:t>
            </a:r>
            <a:endParaRPr sz="1000">
              <a:solidFill>
                <a:schemeClr val="dk1"/>
              </a:solidFill>
              <a:latin typeface="Calibri"/>
              <a:ea typeface="Calibri"/>
              <a:cs typeface="Calibri"/>
              <a:sym typeface="Calibri"/>
            </a:endParaRPr>
          </a:p>
        </p:txBody>
      </p:sp>
      <p:sp>
        <p:nvSpPr>
          <p:cNvPr id="342" name="Google Shape;342;p13"/>
          <p:cNvSpPr/>
          <p:nvPr/>
        </p:nvSpPr>
        <p:spPr>
          <a:xfrm>
            <a:off x="457200" y="2752344"/>
            <a:ext cx="292608" cy="292608"/>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3"/>
          <p:cNvSpPr/>
          <p:nvPr/>
        </p:nvSpPr>
        <p:spPr>
          <a:xfrm>
            <a:off x="457200" y="275234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3</a:t>
            </a:r>
            <a:endParaRPr sz="900">
              <a:solidFill>
                <a:schemeClr val="dk1"/>
              </a:solidFill>
              <a:latin typeface="Calibri"/>
              <a:ea typeface="Calibri"/>
              <a:cs typeface="Calibri"/>
              <a:sym typeface="Calibri"/>
            </a:endParaRPr>
          </a:p>
        </p:txBody>
      </p:sp>
      <p:sp>
        <p:nvSpPr>
          <p:cNvPr id="344" name="Google Shape;344;p13"/>
          <p:cNvSpPr/>
          <p:nvPr/>
        </p:nvSpPr>
        <p:spPr>
          <a:xfrm>
            <a:off x="868680" y="2697480"/>
            <a:ext cx="7818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lang="en-US" sz="1000">
                <a:solidFill>
                  <a:srgbClr val="1E293B"/>
                </a:solidFill>
                <a:latin typeface="Calibri"/>
                <a:ea typeface="Calibri"/>
                <a:cs typeface="Calibri"/>
                <a:sym typeface="Calibri"/>
              </a:rPr>
              <a:t>Tayal, S. et al. (2024). Resume Screening Using Machine Learning and NLP. Int. Journal of Scientific Research in Computer Science.</a:t>
            </a:r>
            <a:endParaRPr sz="1000">
              <a:solidFill>
                <a:schemeClr val="dk1"/>
              </a:solidFill>
              <a:latin typeface="Calibri"/>
              <a:ea typeface="Calibri"/>
              <a:cs typeface="Calibri"/>
              <a:sym typeface="Calibri"/>
            </a:endParaRPr>
          </a:p>
        </p:txBody>
      </p:sp>
      <p:sp>
        <p:nvSpPr>
          <p:cNvPr id="345" name="Google Shape;345;p13"/>
          <p:cNvSpPr/>
          <p:nvPr/>
        </p:nvSpPr>
        <p:spPr>
          <a:xfrm>
            <a:off x="457200" y="3255264"/>
            <a:ext cx="292608" cy="292608"/>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3"/>
          <p:cNvSpPr/>
          <p:nvPr/>
        </p:nvSpPr>
        <p:spPr>
          <a:xfrm>
            <a:off x="457200" y="325526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4</a:t>
            </a:r>
            <a:endParaRPr sz="900">
              <a:solidFill>
                <a:schemeClr val="dk1"/>
              </a:solidFill>
              <a:latin typeface="Calibri"/>
              <a:ea typeface="Calibri"/>
              <a:cs typeface="Calibri"/>
              <a:sym typeface="Calibri"/>
            </a:endParaRPr>
          </a:p>
        </p:txBody>
      </p:sp>
      <p:sp>
        <p:nvSpPr>
          <p:cNvPr id="347" name="Google Shape;347;p13"/>
          <p:cNvSpPr/>
          <p:nvPr/>
        </p:nvSpPr>
        <p:spPr>
          <a:xfrm>
            <a:off x="868680" y="3200400"/>
            <a:ext cx="7818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lang="en-US" sz="1000">
                <a:solidFill>
                  <a:srgbClr val="1E293B"/>
                </a:solidFill>
                <a:latin typeface="Calibri"/>
                <a:ea typeface="Calibri"/>
                <a:cs typeface="Calibri"/>
                <a:sym typeface="Calibri"/>
              </a:rPr>
              <a:t>Anh Chi Tuan et al. (2024). Ontology and Its Applications in Skills Matching in Job Recruitment. AO Journal, Sage.</a:t>
            </a:r>
            <a:endParaRPr sz="1000">
              <a:solidFill>
                <a:schemeClr val="dk1"/>
              </a:solidFill>
              <a:latin typeface="Calibri"/>
              <a:ea typeface="Calibri"/>
              <a:cs typeface="Calibri"/>
              <a:sym typeface="Calibri"/>
            </a:endParaRPr>
          </a:p>
        </p:txBody>
      </p:sp>
      <p:sp>
        <p:nvSpPr>
          <p:cNvPr id="348" name="Google Shape;348;p13"/>
          <p:cNvSpPr/>
          <p:nvPr/>
        </p:nvSpPr>
        <p:spPr>
          <a:xfrm>
            <a:off x="457200" y="3758184"/>
            <a:ext cx="292608" cy="292608"/>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3"/>
          <p:cNvSpPr/>
          <p:nvPr/>
        </p:nvSpPr>
        <p:spPr>
          <a:xfrm>
            <a:off x="457200" y="375818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5</a:t>
            </a:r>
            <a:endParaRPr sz="900">
              <a:solidFill>
                <a:schemeClr val="dk1"/>
              </a:solidFill>
              <a:latin typeface="Calibri"/>
              <a:ea typeface="Calibri"/>
              <a:cs typeface="Calibri"/>
              <a:sym typeface="Calibri"/>
            </a:endParaRPr>
          </a:p>
        </p:txBody>
      </p:sp>
      <p:sp>
        <p:nvSpPr>
          <p:cNvPr id="350" name="Google Shape;350;p13"/>
          <p:cNvSpPr/>
          <p:nvPr/>
        </p:nvSpPr>
        <p:spPr>
          <a:xfrm>
            <a:off x="868680" y="3703320"/>
            <a:ext cx="7818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lang="en-US" sz="1000">
                <a:solidFill>
                  <a:srgbClr val="1E293B"/>
                </a:solidFill>
                <a:latin typeface="Calibri"/>
                <a:ea typeface="Calibri"/>
                <a:cs typeface="Calibri"/>
                <a:sym typeface="Calibri"/>
              </a:rPr>
              <a:t>MIDA '24. (2024). Intelligent Recruitment DSS Combining Transformer Model and Knowledge Graph. ACM. doi:10.1145/3662739.3672315</a:t>
            </a:r>
            <a:endParaRPr sz="1000">
              <a:solidFill>
                <a:schemeClr val="dk1"/>
              </a:solidFill>
              <a:latin typeface="Calibri"/>
              <a:ea typeface="Calibri"/>
              <a:cs typeface="Calibri"/>
              <a:sym typeface="Calibri"/>
            </a:endParaRPr>
          </a:p>
        </p:txBody>
      </p:sp>
      <p:sp>
        <p:nvSpPr>
          <p:cNvPr id="351" name="Google Shape;351;p13"/>
          <p:cNvSpPr/>
          <p:nvPr/>
        </p:nvSpPr>
        <p:spPr>
          <a:xfrm>
            <a:off x="457200" y="4261104"/>
            <a:ext cx="292608" cy="292608"/>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3"/>
          <p:cNvSpPr/>
          <p:nvPr/>
        </p:nvSpPr>
        <p:spPr>
          <a:xfrm>
            <a:off x="457200" y="426110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6</a:t>
            </a:r>
            <a:endParaRPr sz="900">
              <a:solidFill>
                <a:schemeClr val="dk1"/>
              </a:solidFill>
              <a:latin typeface="Calibri"/>
              <a:ea typeface="Calibri"/>
              <a:cs typeface="Calibri"/>
              <a:sym typeface="Calibri"/>
            </a:endParaRPr>
          </a:p>
        </p:txBody>
      </p:sp>
      <p:sp>
        <p:nvSpPr>
          <p:cNvPr id="353" name="Google Shape;353;p13"/>
          <p:cNvSpPr/>
          <p:nvPr/>
        </p:nvSpPr>
        <p:spPr>
          <a:xfrm>
            <a:off x="868680" y="4206240"/>
            <a:ext cx="7818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lang="en-US" sz="1000">
                <a:solidFill>
                  <a:srgbClr val="1E293B"/>
                </a:solidFill>
                <a:latin typeface="Calibri"/>
                <a:ea typeface="Calibri"/>
                <a:cs typeface="Calibri"/>
                <a:sym typeface="Calibri"/>
              </a:rPr>
              <a:t>Zhang et al. (2024). Natural Language Processing (NLP) in AI-Driven Recruitment Systems. ResearchGate.</a:t>
            </a:r>
            <a:endParaRPr sz="10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58" name="Shape 358"/>
        <p:cNvGrpSpPr/>
        <p:nvPr/>
      </p:nvGrpSpPr>
      <p:grpSpPr>
        <a:xfrm>
          <a:off x="0" y="0"/>
          <a:ext cx="0" cy="0"/>
          <a:chOff x="0" y="0"/>
          <a:chExt cx="0" cy="0"/>
        </a:xfrm>
      </p:grpSpPr>
      <p:sp>
        <p:nvSpPr>
          <p:cNvPr id="359" name="Google Shape;359;p14"/>
          <p:cNvSpPr/>
          <p:nvPr/>
        </p:nvSpPr>
        <p:spPr>
          <a:xfrm>
            <a:off x="457200" y="228600"/>
            <a:ext cx="2926080" cy="329184"/>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4"/>
          <p:cNvSpPr/>
          <p:nvPr/>
        </p:nvSpPr>
        <p:spPr>
          <a:xfrm>
            <a:off x="457200" y="228600"/>
            <a:ext cx="292608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REFERENCES</a:t>
            </a:r>
            <a:endParaRPr sz="950">
              <a:solidFill>
                <a:schemeClr val="dk1"/>
              </a:solidFill>
              <a:latin typeface="Calibri"/>
              <a:ea typeface="Calibri"/>
              <a:cs typeface="Calibri"/>
              <a:sym typeface="Calibri"/>
            </a:endParaRPr>
          </a:p>
        </p:txBody>
      </p:sp>
      <p:sp>
        <p:nvSpPr>
          <p:cNvPr id="361" name="Google Shape;361;p14"/>
          <p:cNvSpPr/>
          <p:nvPr/>
        </p:nvSpPr>
        <p:spPr>
          <a:xfrm>
            <a:off x="457200" y="658368"/>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800"/>
              <a:buFont typeface="Calibri"/>
              <a:buNone/>
            </a:pPr>
            <a:r>
              <a:rPr b="1" lang="en-US" sz="2800">
                <a:solidFill>
                  <a:srgbClr val="1B3A6B"/>
                </a:solidFill>
                <a:latin typeface="Calibri"/>
                <a:ea typeface="Calibri"/>
                <a:cs typeface="Calibri"/>
                <a:sym typeface="Calibri"/>
              </a:rPr>
              <a:t>References</a:t>
            </a:r>
            <a:endParaRPr sz="2800">
              <a:solidFill>
                <a:schemeClr val="dk1"/>
              </a:solidFill>
              <a:latin typeface="Calibri"/>
              <a:ea typeface="Calibri"/>
              <a:cs typeface="Calibri"/>
              <a:sym typeface="Calibri"/>
            </a:endParaRPr>
          </a:p>
        </p:txBody>
      </p:sp>
      <p:sp>
        <p:nvSpPr>
          <p:cNvPr id="362" name="Google Shape;362;p14"/>
          <p:cNvSpPr/>
          <p:nvPr/>
        </p:nvSpPr>
        <p:spPr>
          <a:xfrm>
            <a:off x="457200" y="1746504"/>
            <a:ext cx="292608" cy="292608"/>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4"/>
          <p:cNvSpPr/>
          <p:nvPr/>
        </p:nvSpPr>
        <p:spPr>
          <a:xfrm>
            <a:off x="457200" y="174650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7</a:t>
            </a:r>
            <a:endParaRPr sz="900">
              <a:solidFill>
                <a:schemeClr val="dk1"/>
              </a:solidFill>
              <a:latin typeface="Calibri"/>
              <a:ea typeface="Calibri"/>
              <a:cs typeface="Calibri"/>
              <a:sym typeface="Calibri"/>
            </a:endParaRPr>
          </a:p>
        </p:txBody>
      </p:sp>
      <p:sp>
        <p:nvSpPr>
          <p:cNvPr id="364" name="Google Shape;364;p14"/>
          <p:cNvSpPr/>
          <p:nvPr/>
        </p:nvSpPr>
        <p:spPr>
          <a:xfrm>
            <a:off x="868680" y="1691640"/>
            <a:ext cx="7818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lang="en-US" sz="1000">
                <a:solidFill>
                  <a:srgbClr val="1E293B"/>
                </a:solidFill>
                <a:latin typeface="Calibri"/>
                <a:ea typeface="Calibri"/>
                <a:cs typeface="Calibri"/>
                <a:sym typeface="Calibri"/>
              </a:rPr>
              <a:t>University of Salford. (2024). A Comprehensive Review of AI Techniques for Addressing Algorithmic Bias in Job Hiring. AI, 5(1), 383–404. MDPI.</a:t>
            </a:r>
            <a:endParaRPr sz="1000">
              <a:solidFill>
                <a:schemeClr val="dk1"/>
              </a:solidFill>
              <a:latin typeface="Calibri"/>
              <a:ea typeface="Calibri"/>
              <a:cs typeface="Calibri"/>
              <a:sym typeface="Calibri"/>
            </a:endParaRPr>
          </a:p>
        </p:txBody>
      </p:sp>
      <p:sp>
        <p:nvSpPr>
          <p:cNvPr id="365" name="Google Shape;365;p14"/>
          <p:cNvSpPr/>
          <p:nvPr/>
        </p:nvSpPr>
        <p:spPr>
          <a:xfrm>
            <a:off x="457200" y="2249424"/>
            <a:ext cx="292608" cy="292608"/>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4"/>
          <p:cNvSpPr/>
          <p:nvPr/>
        </p:nvSpPr>
        <p:spPr>
          <a:xfrm>
            <a:off x="457200" y="22494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8</a:t>
            </a:r>
            <a:endParaRPr sz="900">
              <a:solidFill>
                <a:schemeClr val="dk1"/>
              </a:solidFill>
              <a:latin typeface="Calibri"/>
              <a:ea typeface="Calibri"/>
              <a:cs typeface="Calibri"/>
              <a:sym typeface="Calibri"/>
            </a:endParaRPr>
          </a:p>
        </p:txBody>
      </p:sp>
      <p:sp>
        <p:nvSpPr>
          <p:cNvPr id="367" name="Google Shape;367;p14"/>
          <p:cNvSpPr/>
          <p:nvPr/>
        </p:nvSpPr>
        <p:spPr>
          <a:xfrm>
            <a:off x="868680" y="2194560"/>
            <a:ext cx="7818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lang="en-US" sz="1000">
                <a:solidFill>
                  <a:srgbClr val="1E293B"/>
                </a:solidFill>
                <a:latin typeface="Calibri"/>
                <a:ea typeface="Calibri"/>
                <a:cs typeface="Calibri"/>
                <a:sym typeface="Calibri"/>
              </a:rPr>
              <a:t>Tandfonline. (2025). Explainable AI in the Talent Recruitment Process: A Literature Review. Cogent Business &amp; Management.</a:t>
            </a:r>
            <a:endParaRPr sz="1000">
              <a:solidFill>
                <a:schemeClr val="dk1"/>
              </a:solidFill>
              <a:latin typeface="Calibri"/>
              <a:ea typeface="Calibri"/>
              <a:cs typeface="Calibri"/>
              <a:sym typeface="Calibri"/>
            </a:endParaRPr>
          </a:p>
        </p:txBody>
      </p:sp>
      <p:sp>
        <p:nvSpPr>
          <p:cNvPr id="368" name="Google Shape;368;p14"/>
          <p:cNvSpPr/>
          <p:nvPr/>
        </p:nvSpPr>
        <p:spPr>
          <a:xfrm>
            <a:off x="457200" y="2752344"/>
            <a:ext cx="292608" cy="292608"/>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4"/>
          <p:cNvSpPr/>
          <p:nvPr/>
        </p:nvSpPr>
        <p:spPr>
          <a:xfrm>
            <a:off x="457200" y="275234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9</a:t>
            </a:r>
            <a:endParaRPr sz="900">
              <a:solidFill>
                <a:schemeClr val="dk1"/>
              </a:solidFill>
              <a:latin typeface="Calibri"/>
              <a:ea typeface="Calibri"/>
              <a:cs typeface="Calibri"/>
              <a:sym typeface="Calibri"/>
            </a:endParaRPr>
          </a:p>
        </p:txBody>
      </p:sp>
      <p:sp>
        <p:nvSpPr>
          <p:cNvPr id="370" name="Google Shape;370;p14"/>
          <p:cNvSpPr/>
          <p:nvPr/>
        </p:nvSpPr>
        <p:spPr>
          <a:xfrm>
            <a:off x="868680" y="2697480"/>
            <a:ext cx="7818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000">
                <a:solidFill>
                  <a:srgbClr val="1E293B"/>
                </a:solidFill>
                <a:latin typeface="Calibri"/>
                <a:ea typeface="Calibri"/>
                <a:cs typeface="Calibri"/>
                <a:sym typeface="Calibri"/>
              </a:rPr>
              <a:t>Mujtaba and Mahapatra (2024). Fairness in AI-Driven Recruitment: Challenges, Metrics, Methods, and Future Directions. ResearchGate.</a:t>
            </a:r>
            <a:endParaRPr sz="1000">
              <a:solidFill>
                <a:schemeClr val="dk1"/>
              </a:solidFill>
              <a:latin typeface="Calibri"/>
              <a:ea typeface="Calibri"/>
              <a:cs typeface="Calibri"/>
              <a:sym typeface="Calibri"/>
            </a:endParaRPr>
          </a:p>
        </p:txBody>
      </p:sp>
      <p:sp>
        <p:nvSpPr>
          <p:cNvPr id="371" name="Google Shape;371;p14"/>
          <p:cNvSpPr/>
          <p:nvPr/>
        </p:nvSpPr>
        <p:spPr>
          <a:xfrm>
            <a:off x="457200" y="3255264"/>
            <a:ext cx="292608" cy="292608"/>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4"/>
          <p:cNvSpPr/>
          <p:nvPr/>
        </p:nvSpPr>
        <p:spPr>
          <a:xfrm>
            <a:off x="457200" y="325526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10</a:t>
            </a:r>
            <a:endParaRPr sz="900">
              <a:solidFill>
                <a:schemeClr val="dk1"/>
              </a:solidFill>
              <a:latin typeface="Calibri"/>
              <a:ea typeface="Calibri"/>
              <a:cs typeface="Calibri"/>
              <a:sym typeface="Calibri"/>
            </a:endParaRPr>
          </a:p>
        </p:txBody>
      </p:sp>
      <p:sp>
        <p:nvSpPr>
          <p:cNvPr id="373" name="Google Shape;373;p14"/>
          <p:cNvSpPr/>
          <p:nvPr/>
        </p:nvSpPr>
        <p:spPr>
          <a:xfrm>
            <a:off x="868680" y="3200400"/>
            <a:ext cx="7818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lang="en-US" sz="1000">
                <a:solidFill>
                  <a:srgbClr val="1E293B"/>
                </a:solidFill>
                <a:latin typeface="Calibri"/>
                <a:ea typeface="Calibri"/>
                <a:cs typeface="Calibri"/>
                <a:sym typeface="Calibri"/>
              </a:rPr>
              <a:t>Merkert, J. et al. (2025). Intelligent Decision Support Systems: An Analysis of the Literature. Information Systems Frontiers, Springer.</a:t>
            </a:r>
            <a:endParaRPr sz="1000">
              <a:solidFill>
                <a:schemeClr val="dk1"/>
              </a:solidFill>
              <a:latin typeface="Calibri"/>
              <a:ea typeface="Calibri"/>
              <a:cs typeface="Calibri"/>
              <a:sym typeface="Calibri"/>
            </a:endParaRPr>
          </a:p>
        </p:txBody>
      </p:sp>
      <p:sp>
        <p:nvSpPr>
          <p:cNvPr id="374" name="Google Shape;374;p14"/>
          <p:cNvSpPr/>
          <p:nvPr/>
        </p:nvSpPr>
        <p:spPr>
          <a:xfrm>
            <a:off x="457200" y="3758184"/>
            <a:ext cx="292608" cy="292608"/>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4"/>
          <p:cNvSpPr/>
          <p:nvPr/>
        </p:nvSpPr>
        <p:spPr>
          <a:xfrm>
            <a:off x="457200" y="375818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11</a:t>
            </a:r>
            <a:endParaRPr sz="900">
              <a:solidFill>
                <a:schemeClr val="dk1"/>
              </a:solidFill>
              <a:latin typeface="Calibri"/>
              <a:ea typeface="Calibri"/>
              <a:cs typeface="Calibri"/>
              <a:sym typeface="Calibri"/>
            </a:endParaRPr>
          </a:p>
        </p:txBody>
      </p:sp>
      <p:sp>
        <p:nvSpPr>
          <p:cNvPr id="376" name="Google Shape;376;p14"/>
          <p:cNvSpPr/>
          <p:nvPr/>
        </p:nvSpPr>
        <p:spPr>
          <a:xfrm>
            <a:off x="868680" y="3703320"/>
            <a:ext cx="7818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lang="en-US" sz="1000">
                <a:solidFill>
                  <a:srgbClr val="1E293B"/>
                </a:solidFill>
                <a:latin typeface="Calibri"/>
                <a:ea typeface="Calibri"/>
                <a:cs typeface="Calibri"/>
                <a:sym typeface="Calibri"/>
              </a:rPr>
              <a:t>ScienceDirect. (2026). Optimizing Student Job Placements with NLP and Explainable AI: A Fair and Transparent Hiring Framework.</a:t>
            </a:r>
            <a:endParaRPr sz="1000">
              <a:solidFill>
                <a:schemeClr val="dk1"/>
              </a:solidFill>
              <a:latin typeface="Calibri"/>
              <a:ea typeface="Calibri"/>
              <a:cs typeface="Calibri"/>
              <a:sym typeface="Calibri"/>
            </a:endParaRPr>
          </a:p>
        </p:txBody>
      </p:sp>
      <p:sp>
        <p:nvSpPr>
          <p:cNvPr id="377" name="Google Shape;377;p14"/>
          <p:cNvSpPr/>
          <p:nvPr/>
        </p:nvSpPr>
        <p:spPr>
          <a:xfrm>
            <a:off x="457200" y="4261104"/>
            <a:ext cx="292608" cy="292608"/>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4"/>
          <p:cNvSpPr/>
          <p:nvPr/>
        </p:nvSpPr>
        <p:spPr>
          <a:xfrm>
            <a:off x="457200" y="426110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12</a:t>
            </a:r>
            <a:endParaRPr sz="900">
              <a:solidFill>
                <a:schemeClr val="dk1"/>
              </a:solidFill>
              <a:latin typeface="Calibri"/>
              <a:ea typeface="Calibri"/>
              <a:cs typeface="Calibri"/>
              <a:sym typeface="Calibri"/>
            </a:endParaRPr>
          </a:p>
        </p:txBody>
      </p:sp>
      <p:sp>
        <p:nvSpPr>
          <p:cNvPr id="379" name="Google Shape;379;p14"/>
          <p:cNvSpPr/>
          <p:nvPr/>
        </p:nvSpPr>
        <p:spPr>
          <a:xfrm>
            <a:off x="868680" y="4206240"/>
            <a:ext cx="7818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000">
                <a:solidFill>
                  <a:srgbClr val="1E293B"/>
                </a:solidFill>
                <a:latin typeface="Calibri"/>
                <a:ea typeface="Calibri"/>
                <a:cs typeface="Calibri"/>
                <a:sym typeface="Calibri"/>
              </a:rPr>
              <a:t>Fabris et al. (2024). Fairness and Bias in Algorithmic Hiring: A Multidisciplinary Survey. ACM Transactions on Intelligent Systems and Technology.</a:t>
            </a:r>
            <a:endParaRPr sz="10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A6B"/>
        </a:solidFill>
      </p:bgPr>
    </p:bg>
    <p:spTree>
      <p:nvGrpSpPr>
        <p:cNvPr id="384" name="Shape 384"/>
        <p:cNvGrpSpPr/>
        <p:nvPr/>
      </p:nvGrpSpPr>
      <p:grpSpPr>
        <a:xfrm>
          <a:off x="0" y="0"/>
          <a:ext cx="0" cy="0"/>
          <a:chOff x="0" y="0"/>
          <a:chExt cx="0" cy="0"/>
        </a:xfrm>
      </p:grpSpPr>
      <p:sp>
        <p:nvSpPr>
          <p:cNvPr id="385" name="Google Shape;385;p15"/>
          <p:cNvSpPr/>
          <p:nvPr/>
        </p:nvSpPr>
        <p:spPr>
          <a:xfrm>
            <a:off x="0" y="0"/>
            <a:ext cx="9144000" cy="109728"/>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5"/>
          <p:cNvSpPr/>
          <p:nvPr/>
        </p:nvSpPr>
        <p:spPr>
          <a:xfrm>
            <a:off x="0" y="5033772"/>
            <a:ext cx="9144000" cy="109728"/>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7" name="Google Shape;387;p15"/>
          <p:cNvPicPr preferRelativeResize="0"/>
          <p:nvPr/>
        </p:nvPicPr>
        <p:blipFill rotWithShape="1">
          <a:blip r:embed="rId3">
            <a:alphaModFix/>
          </a:blip>
          <a:srcRect b="0" l="0" r="0" t="0"/>
          <a:stretch/>
        </p:blipFill>
        <p:spPr>
          <a:xfrm>
            <a:off x="3886200" y="868680"/>
            <a:ext cx="1371600" cy="1371600"/>
          </a:xfrm>
          <a:prstGeom prst="rect">
            <a:avLst/>
          </a:prstGeom>
          <a:noFill/>
          <a:ln>
            <a:noFill/>
          </a:ln>
        </p:spPr>
      </p:pic>
      <p:sp>
        <p:nvSpPr>
          <p:cNvPr id="388" name="Google Shape;388;p15"/>
          <p:cNvSpPr/>
          <p:nvPr/>
        </p:nvSpPr>
        <p:spPr>
          <a:xfrm>
            <a:off x="457200" y="2743200"/>
            <a:ext cx="822960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400"/>
              <a:buFont typeface="Calibri"/>
              <a:buNone/>
            </a:pPr>
            <a:r>
              <a:rPr b="1" lang="en-US" sz="4400">
                <a:solidFill>
                  <a:srgbClr val="FFFFFF"/>
                </a:solidFill>
                <a:latin typeface="Calibri"/>
                <a:ea typeface="Calibri"/>
                <a:cs typeface="Calibri"/>
                <a:sym typeface="Calibri"/>
              </a:rPr>
              <a:t>THANK YOU!</a:t>
            </a:r>
            <a:endParaRPr sz="4400">
              <a:solidFill>
                <a:schemeClr val="dk1"/>
              </a:solidFill>
              <a:latin typeface="Calibri"/>
              <a:ea typeface="Calibri"/>
              <a:cs typeface="Calibri"/>
              <a:sym typeface="Calibri"/>
            </a:endParaRPr>
          </a:p>
        </p:txBody>
      </p:sp>
      <p:sp>
        <p:nvSpPr>
          <p:cNvPr id="389" name="Google Shape;389;p15"/>
          <p:cNvSpPr/>
          <p:nvPr/>
        </p:nvSpPr>
        <p:spPr>
          <a:xfrm>
            <a:off x="457200" y="4251960"/>
            <a:ext cx="8229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RecruitIQ - </a:t>
            </a:r>
            <a:r>
              <a:rPr lang="en-US" sz="1200">
                <a:solidFill>
                  <a:srgbClr val="64748B"/>
                </a:solidFill>
                <a:latin typeface="Calibri"/>
                <a:ea typeface="Calibri"/>
                <a:cs typeface="Calibri"/>
                <a:sym typeface="Calibri"/>
              </a:rPr>
              <a:t>An Intelligent Decision-Support System for Recruitment</a:t>
            </a:r>
            <a:endParaRPr sz="12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