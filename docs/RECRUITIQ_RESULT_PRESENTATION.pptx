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75504" y="7315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5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Segoe UI"/>
              </a:defRPr>
            </a:pPr>
            <a:r>
              <a:t>An Intelligent Decision-Support System for Recruitment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008080"/>
                </a:solidFill>
                <a:latin typeface="Segoe UI"/>
              </a:defRPr>
            </a:pPr>
            <a:r>
              <a:t>RecruitIQ: System Implementation &amp; Final Result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3931920"/>
            <a:ext cx="3840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4069080"/>
            <a:ext cx="3474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STUDENT</a:t>
            </a:r>
          </a:p>
          <a:p>
            <a:pPr>
              <a:spcBef>
                <a:spcPts val="300"/>
              </a:spcBef>
              <a:defRPr sz="1300" b="1">
                <a:solidFill>
                  <a:srgbClr val="1B365D"/>
                </a:solidFill>
                <a:latin typeface="Segoe UI"/>
              </a:defRPr>
            </a:pPr>
            <a:r>
              <a:t>OLADAPO OLALEKAN OLANREWAJU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Matric No: 230912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931920"/>
            <a:ext cx="3840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4069080"/>
            <a:ext cx="3474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SUPERVISOR</a:t>
            </a:r>
          </a:p>
          <a:p>
            <a:pPr>
              <a:spcBef>
                <a:spcPts val="300"/>
              </a:spcBef>
              <a:defRPr sz="1300" b="1">
                <a:solidFill>
                  <a:srgbClr val="1B365D"/>
                </a:solidFill>
                <a:latin typeface="Segoe UI"/>
              </a:defRPr>
            </a:pPr>
            <a:r>
              <a:t>Mr. AYETUOMA I. O.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Department of Computer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445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Segoe UI"/>
              </a:defRPr>
            </a:pPr>
            <a:r>
              <a:t>Faculty of Computing, Department of Computer Science • BSc (Hons) Computer Science •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INTRODUCTION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Background &amp; Operational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201168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👤</a:t>
            </a:r>
          </a:p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250+ Applications</a:t>
            </a:r>
          </a:p>
          <a:p>
            <a:pPr algn="ctr">
              <a:defRPr sz="1100">
                <a:solidFill>
                  <a:srgbClr val="93C5FD"/>
                </a:solidFill>
              </a:defRPr>
            </a:pPr>
            <a:r>
              <a:t>Average per Tech Job Posting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554480"/>
            <a:ext cx="3291840" cy="20116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1737360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🤖</a:t>
            </a:r>
          </a:p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70% Time Saved</a:t>
            </a:r>
          </a:p>
          <a:p>
            <a:pPr algn="ctr">
              <a:defRPr sz="1100">
                <a:solidFill>
                  <a:srgbClr val="A7F3D0"/>
                </a:solidFill>
              </a:defRPr>
            </a:pPr>
            <a:r>
              <a:t>Reduction in Recruiter Screening 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554480"/>
            <a:ext cx="3566160" cy="2011680"/>
          </a:xfrm>
          <a:prstGeom prst="roundRect">
            <a:avLst/>
          </a:prstGeom>
          <a:solidFill>
            <a:srgbClr val="2E1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383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⚖️</a:t>
            </a:r>
          </a:p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0.923 Parity Ratio</a:t>
            </a:r>
          </a:p>
          <a:p>
            <a:pPr algn="ctr">
              <a:defRPr sz="1100">
                <a:solidFill>
                  <a:srgbClr val="DDD6FE"/>
                </a:solidFill>
              </a:defRPr>
            </a:pPr>
            <a:r>
              <a:t>Satisfies 80% Four-Fifths Non-Discrimination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10149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Segoe UI"/>
              </a:defRPr>
            </a:pPr>
            <a:r>
              <a:t>The Operational Problem in Modern Recruitment: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Cognitive Fatigue &amp; Subjective Bias: </a:t>
            </a:r>
            <a:r>
              <a:rPr b="0" sz="1100">
                <a:solidFill>
                  <a:srgbClr val="64748B"/>
                </a:solidFill>
                <a:latin typeface="Segoe UI"/>
              </a:rPr>
              <a:t>Human recruiters face exhaustion reviewing hundreds of unstructured CVs, leading to erratic shortlisting and unconscious bias against names, gender, and demographics.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Fragility of Keyword ATS: </a:t>
            </a:r>
            <a:r>
              <a:rPr b="0" sz="1100">
                <a:solidFill>
                  <a:srgbClr val="64748B"/>
                </a:solidFill>
                <a:latin typeface="Segoe UI"/>
              </a:rPr>
              <a:t>Existing tools use brittle string matching; qualified candidates who use contextual synonyms (e.g., 'containerization' vs 'Docker') are unfairly screened out.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Opaque Black-Box Classifiers: </a:t>
            </a:r>
            <a:r>
              <a:rPr b="0" sz="1100">
                <a:solidFill>
                  <a:srgbClr val="64748B"/>
                </a:solidFill>
                <a:latin typeface="Segoe UI"/>
              </a:rPr>
              <a:t>Commercial machine learning screeners fail to explain why an applicant was accepted or rejected, leaving recruiters with zero auditability and candidates with zero feedback.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RecruitIQ Solution: </a:t>
            </a:r>
            <a:r>
              <a:rPr b="0" sz="1100">
                <a:solidFill>
                  <a:srgbClr val="64748B"/>
                </a:solidFill>
                <a:latin typeface="Segoe UI"/>
              </a:rPr>
              <a:t>A verified Decision Support System combining Layout Parsing (pdfplumber), Sentence-BERT (MiniLM-L6-v2), Progressive Halving, SHAP Explainability, and Fairlearn demographic auditing.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PROBLEM STATEMENT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Critical Bottlenecks in Modern Talent Acquisition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🛑 Manual Review Bottlenecks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Human HR teams spend only 6 to 7 seconds skimming each resume, creating severe cognitive exhaustion, erratic decisions, and weeks of hiring latency for growing tech companies.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⚠️ Keyword ATS Rigidity &amp; Gaming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Legacy ATS systems reward keyword-stuffing and reject highly skilled candidates who express qualifications in synonymous phrasing (e.g. 'Kubernetes' vs 'K8s', 'ML' vs 'Machine Learning').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🕶️ Opaque Machine Learning 'Black Boxes'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Black-box AI classifiers output rejection scores without interpretable feature justifications, preventing HR auditability and leaving candidates in the dark without actionable career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⚖️ Amplified Demographic Disparities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Unsanitized applicant records amplify historical societal biases against candidate names, gender signals, age indicators, and educational institutions, resulting in disparate impact violations.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AIM &amp; OBJECTIVES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Project Goal &amp; Specific Development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080"/>
                </a:solidFill>
              </a:defRPr>
            </a:pPr>
            <a:r>
              <a:t>PRIMARY PROJECT AIM:</a:t>
            </a:r>
          </a:p>
          <a:p>
            <a:pPr>
              <a:spcBef>
                <a:spcPts val="300"/>
              </a:spcBef>
              <a:defRPr sz="1200" b="1">
                <a:solidFill>
                  <a:srgbClr val="1B365D"/>
                </a:solidFill>
              </a:defRPr>
            </a:pPr>
            <a:r>
              <a:t>To design and implement an Intelligent Decision-Support System (IDSS) for recruitment that automates CV screening, eliminates bias of all kinds, ranks candidates strictly on merit, and provides constructive feedback to every applicant.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6984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15468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Engineered Development Objectives: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08080"/>
                </a:solidFill>
                <a:latin typeface="Segoe UI"/>
              </a:rPr>
              <a:t>✔ Objective 1: Multi-Factor 5D Scoring Model: </a:t>
            </a:r>
            <a:r>
              <a:rPr b="0" sz="1050">
                <a:solidFill>
                  <a:srgbClr val="64748B"/>
                </a:solidFill>
                <a:latin typeface="Segoe UI"/>
              </a:rPr>
              <a:t>Design a multi-factor candidate scoring model evaluating Hard Skills (Sh), Soft Skills (Ss), Tenure (St), and Education (Sd) using a simplex-normalized weight vector.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08080"/>
                </a:solidFill>
                <a:latin typeface="Segoe UI"/>
              </a:rPr>
              <a:t>✔ Objective 2: Layout-Aware Parsing &amp; PII Scrubbing: </a:t>
            </a:r>
            <a:r>
              <a:rPr b="0" sz="1050">
                <a:solidFill>
                  <a:srgbClr val="64748B"/>
                </a:solidFill>
                <a:latin typeface="Segoe UI"/>
              </a:rPr>
              <a:t>Implement layout-preserving PDF/DOCX extraction via pdfplumber and automated PII anonymization to eliminate candidate name, contact, and demographic markers.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08080"/>
                </a:solidFill>
                <a:latin typeface="Segoe UI"/>
              </a:rPr>
              <a:t>✔ Objective 3: Progressive Halving Talent Funnel: </a:t>
            </a:r>
            <a:r>
              <a:rPr b="0" sz="1050">
                <a:solidFill>
                  <a:srgbClr val="64748B"/>
                </a:solidFill>
                <a:latin typeface="Segoe UI"/>
              </a:rPr>
              <a:t>Engineer a 3-Stage Progressive Halving talent funnel (100% -&gt; 50% -&gt; 25%) that optimizes evaluation speed and prunes candidates without loss of quality.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08080"/>
                </a:solidFill>
                <a:latin typeface="Segoe UI"/>
              </a:rPr>
              <a:t>✔ Objective 4: Explainable AI &amp; Candidate Feedback: </a:t>
            </a:r>
            <a:r>
              <a:rPr b="0" sz="1050">
                <a:solidFill>
                  <a:srgbClr val="64748B"/>
                </a:solidFill>
                <a:latin typeface="Segoe UI"/>
              </a:rPr>
              <a:t>Integrate additive SHAP (SHapley Additive exPlanations) attribution to provide transparent ranking rationales and actionable candidate skill-gap reports.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08080"/>
                </a:solidFill>
                <a:latin typeface="Segoe UI"/>
              </a:rPr>
              <a:t>✔ Objective 5: Fairlearn Demographic Parity Auditing: </a:t>
            </a:r>
            <a:r>
              <a:rPr b="0" sz="1050">
                <a:solidFill>
                  <a:srgbClr val="64748B"/>
                </a:solidFill>
                <a:latin typeface="Segoe UI"/>
              </a:rPr>
              <a:t>Embed automated algorithmic fairness audits enforcing the EEOC 80% (four-fifths) rule across protected demographic attributes.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SYSTEM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Multi-Tier Implementation Architecture &amp; Decomposition</a:t>
            </a:r>
          </a:p>
        </p:txBody>
      </p:sp>
      <p:pic>
        <p:nvPicPr>
          <p:cNvPr id="3" name="Picture 2" descr="diagram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315200" cy="454046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1463040"/>
            <a:ext cx="3200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Four-Tier Topology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8080"/>
                </a:solidFill>
                <a:latin typeface="Segoe UI"/>
              </a:rPr>
              <a:t>Tier 1: Client UI
</a:t>
            </a:r>
            <a:r>
              <a:rPr b="0" sz="1000">
                <a:solidFill>
                  <a:srgbClr val="64748B"/>
                </a:solidFill>
                <a:latin typeface="Segoe UI"/>
              </a:rPr>
              <a:t>React 19 + Vite + Tailwind CSS with reactive multi-stage funnel states and interactive SHAP drawers.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8080"/>
                </a:solidFill>
                <a:latin typeface="Segoe UI"/>
              </a:rPr>
              <a:t>Tier 2: API Gateway
</a:t>
            </a:r>
            <a:r>
              <a:rPr b="0" sz="1000">
                <a:solidFill>
                  <a:srgbClr val="64748B"/>
                </a:solidFill>
                <a:latin typeface="Segoe UI"/>
              </a:rPr>
              <a:t>Django REST Framework headless MVT controllers, JWT token authentication, and English Language Gate.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8080"/>
                </a:solidFill>
                <a:latin typeface="Segoe UI"/>
              </a:rPr>
              <a:t>Tier 3: Decision Engine
</a:t>
            </a:r>
            <a:r>
              <a:rPr b="0" sz="1000">
                <a:solidFill>
                  <a:srgbClr val="64748B"/>
                </a:solidFill>
                <a:latin typeface="Segoe UI"/>
              </a:rPr>
              <a:t>Sentence-BERT (384-D dense vectors), cosine similarity, Fairlearn parity auditor, and SHAP TreeExplainer.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8080"/>
                </a:solidFill>
                <a:latin typeface="Segoe UI"/>
              </a:rPr>
              <a:t>Tier 4: Relational DB
</a:t>
            </a:r>
            <a:r>
              <a:rPr b="0" sz="1000">
                <a:solidFill>
                  <a:srgbClr val="64748B"/>
                </a:solidFill>
                <a:latin typeface="Segoe UI"/>
              </a:rPr>
              <a:t>ACID persistence (SQLite/PostgreSQL) managing normalized jobs, candidates, evaluations, and audit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MATHEMATICAL FORMULATION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5-Dimensional Multi-Criteria Decision Pipeline</a:t>
            </a:r>
          </a:p>
        </p:txBody>
      </p:sp>
      <p:pic>
        <p:nvPicPr>
          <p:cNvPr id="3" name="Picture 2" descr="diagram_scor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66404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TALENT FUNNEL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Progressive Halving Multi-Stage Funnel Architecture</a:t>
            </a:r>
          </a:p>
        </p:txBody>
      </p:sp>
      <p:pic>
        <p:nvPicPr>
          <p:cNvPr id="3" name="Picture 2" descr="diagram_funne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66404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TECHNOLOGY STACK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Implementation Frameworks, Libraries &amp;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Python 3.11+</a:t>
            </a:r>
          </a:p>
          <a:p>
            <a:pPr>
              <a:defRPr sz="950" b="1">
                <a:solidFill>
                  <a:srgbClr val="008080"/>
                </a:solidFill>
              </a:defRPr>
            </a:pPr>
            <a:r>
              <a:t>Core Computational Runtime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Primary language for NLP pipelines, ML embeddings, Fairlearn bias auditing, and backend business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691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React 19 &amp; Vite</a:t>
            </a:r>
          </a:p>
          <a:p>
            <a:pPr>
              <a:defRPr sz="950" b="1">
                <a:solidFill>
                  <a:srgbClr val="008080"/>
                </a:solidFill>
              </a:defRPr>
            </a:pPr>
            <a:r>
              <a:t>Frontend Presentation Layer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Reactive Single Page App featuring component-driven design, real-time funnel tables, and interactive visual charts.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Django &amp; DRF</a:t>
            </a:r>
          </a:p>
          <a:p>
            <a:pPr>
              <a:defRPr sz="950" b="1">
                <a:solidFill>
                  <a:srgbClr val="008080"/>
                </a:solidFill>
              </a:defRPr>
            </a:pPr>
            <a:r>
              <a:t>RESTful API Framework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Stateless headless API architecture, token authentication, ORM database transactions, and file parsers.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554480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691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PostgreSQL / SQLite</a:t>
            </a:r>
          </a:p>
          <a:p>
            <a:pPr>
              <a:defRPr sz="950" b="1">
                <a:solidFill>
                  <a:srgbClr val="008080"/>
                </a:solidFill>
              </a:defRPr>
            </a:pPr>
            <a:r>
              <a:t>Relational ACID Persistence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Normalized relational schemas storing candidate profiles, anonymized text, evaluation scores, and audit trails.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799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Sentence-BERT (SBERT)</a:t>
            </a:r>
          </a:p>
          <a:p>
            <a:pPr>
              <a:defRPr sz="950" b="1">
                <a:solidFill>
                  <a:srgbClr val="008080"/>
                </a:solidFill>
              </a:defRPr>
            </a:pPr>
            <a:r>
              <a:t>Dense Vector Embeddings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Pre-trained all-MiniLM-L6-v2 model mapping resumes and vacancy requirements into 384-dimensional dense vectors.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977639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4114799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Scikit-Learn</a:t>
            </a:r>
          </a:p>
          <a:p>
            <a:pPr>
              <a:defRPr sz="950" b="1">
                <a:solidFill>
                  <a:srgbClr val="008080"/>
                </a:solidFill>
              </a:defRPr>
            </a:pPr>
            <a:r>
              <a:t>Machine Learning Utilities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Mathematical distance computations, normalized cosine similarities, and preprocessing transformations.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77639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114799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SHAP (Shapley)</a:t>
            </a:r>
          </a:p>
          <a:p>
            <a:pPr>
              <a:defRPr sz="950" b="1">
                <a:solidFill>
                  <a:srgbClr val="008080"/>
                </a:solidFill>
              </a:defRPr>
            </a:pPr>
            <a:r>
              <a:t>Explainable AI (XAI)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Cooperative game theory TreeExplainer generating additive local feature attributions and skill-gap reports.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3977639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4114799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Fairlearn</a:t>
            </a:r>
          </a:p>
          <a:p>
            <a:pPr>
              <a:defRPr sz="950" b="1">
                <a:solidFill>
                  <a:srgbClr val="008080"/>
                </a:solidFill>
              </a:defRPr>
            </a:pPr>
            <a:r>
              <a:t>Algorithmic Bias Auditing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Industrial fairness library measuring demographic parity and selection rate disparities across candidate cohorts.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SYSTEM DEMONSTRATION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Step 1: Role Setup, Criteria Gateway &amp; AI Auto-Detect</a:t>
            </a:r>
          </a:p>
        </p:txBody>
      </p:sp>
      <p:pic>
        <p:nvPicPr>
          <p:cNvPr id="3" name="Picture 2" descr="screenshot_criteria_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554480"/>
            <a:ext cx="3840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73736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Criteria Setup Highlights: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4 Canonical Tech Frameworks: </a:t>
            </a:r>
            <a:r>
              <a:rPr b="0" sz="1000">
                <a:solidFill>
                  <a:srgbClr val="64748B"/>
                </a:solidFill>
                <a:latin typeface="Segoe UI"/>
              </a:rPr>
              <a:t>Instant templates for Product Manager, Data Scientist, DevOps, and Cyber Security.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AI Auto-Detect 5D Criteria: </a:t>
            </a:r>
            <a:r>
              <a:rPr b="0" sz="1000">
                <a:solidFill>
                  <a:srgbClr val="64748B"/>
                </a:solidFill>
                <a:latin typeface="Segoe UI"/>
              </a:rPr>
              <a:t>Recruiters paste raw job postings; the AI engine parses technical skills, soft skills, tenure range, and education benchmarks.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Load Sample Description: </a:t>
            </a:r>
            <a:r>
              <a:rPr b="0" sz="1000">
                <a:solidFill>
                  <a:srgbClr val="64748B"/>
                </a:solidFill>
                <a:latin typeface="Segoe UI"/>
              </a:rPr>
              <a:t>One-click realistic sample descriptions for fast interactive evaluation and testing.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5D Weight Tuning Sliders: </a:t>
            </a:r>
            <a:r>
              <a:rPr b="0" sz="1000">
                <a:solidFill>
                  <a:srgbClr val="64748B"/>
                </a:solidFill>
                <a:latin typeface="Segoe UI"/>
              </a:rPr>
              <a:t>Interactive sliders for Hard Skills (35%), Soft Skills (15%), Tenure Fit (20%), Education (20%), and Domain (10%).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PII Anonymization Toggles: </a:t>
            </a:r>
            <a:r>
              <a:rPr b="0" sz="1000">
                <a:solidFill>
                  <a:srgbClr val="64748B"/>
                </a:solidFill>
                <a:latin typeface="Segoe UI"/>
              </a:rPr>
              <a:t>Recruiters toggle masking of candidate names, contacts, and demographics prior to scoring.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SYSTEM DEMONSTRATION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Step 2: Resume Ingestion Gateway &amp; Bulk Document Dropzone</a:t>
            </a:r>
          </a:p>
        </p:txBody>
      </p:sp>
      <p:pic>
        <p:nvPicPr>
          <p:cNvPr id="3" name="Picture 2" descr="screenshot_bulk_drop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554480"/>
            <a:ext cx="3840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73736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Ingestion Gateway Highlights: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High-Capacity Bulk Uploads: </a:t>
            </a:r>
            <a:r>
              <a:rPr b="0" sz="1000">
                <a:solidFill>
                  <a:srgbClr val="64748B"/>
                </a:solidFill>
                <a:latin typeface="Segoe UI"/>
              </a:rPr>
              <a:t>Drop individual PDF, DOCX, TXT files or a single .zip folder with up to 1,000 resumes.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Spatial Layout Parsing: </a:t>
            </a:r>
            <a:r>
              <a:rPr b="0" sz="1000">
                <a:solidFill>
                  <a:srgbClr val="64748B"/>
                </a:solidFill>
                <a:latin typeface="Segoe UI"/>
              </a:rPr>
              <a:t>PDFPlumber bounding boxes eliminate multi-column text jumbling.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Automated ZIP Decompression: </a:t>
            </a:r>
            <a:r>
              <a:rPr b="0" sz="1000">
                <a:solidFill>
                  <a:srgbClr val="64748B"/>
                </a:solidFill>
                <a:latin typeface="Segoe UI"/>
              </a:rPr>
              <a:t>Unpacks multi-folder archives and matches files strictly to the active role.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English Language Gate: </a:t>
            </a:r>
            <a:r>
              <a:rPr b="0" sz="1000">
                <a:solidFill>
                  <a:srgbClr val="64748B"/>
                </a:solidFill>
                <a:latin typeface="Segoe UI"/>
              </a:rPr>
              <a:t>Intercepts and rejects non-English submissions ('en' gate) to prevent vector drift.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Load 100 Benchmark Resumes: </a:t>
            </a:r>
            <a:r>
              <a:rPr b="0" sz="1000">
                <a:solidFill>
                  <a:srgbClr val="64748B"/>
                </a:solidFill>
                <a:latin typeface="Segoe UI"/>
              </a:rPr>
              <a:t>One-click testing button loading 100 genuine, standardized candidates for evaluation.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SYSTEM DEMONSTRATION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Step 3: Candidate Rankings Matrix &amp; Funnel Pruning</a:t>
            </a:r>
          </a:p>
        </p:txBody>
      </p:sp>
      <p:pic>
        <p:nvPicPr>
          <p:cNvPr id="3" name="Picture 2" descr="screenshot_ranking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554480"/>
            <a:ext cx="3840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73736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Ranking Matrix Highlights: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Multi-Criteria Breakdown: </a:t>
            </a:r>
            <a:r>
              <a:rPr b="0" sz="1000">
                <a:solidFill>
                  <a:srgbClr val="64748B"/>
                </a:solidFill>
                <a:latin typeface="Segoe UI"/>
              </a:rPr>
              <a:t>Displays candidate overall match score alongside Hard, Soft, Tenure, Education, and Domain bars.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Funnel Pruning Controls: </a:t>
            </a:r>
            <a:r>
              <a:rPr b="0" sz="1000">
                <a:solidFill>
                  <a:srgbClr val="64748B"/>
                </a:solidFill>
                <a:latin typeface="Segoe UI"/>
              </a:rPr>
              <a:t>Instant switching across Stage 1 (All 100 CVs), Stage 2 (Top 50%), and Stage 3 (Top 25% Finalists).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Active Shortlist Statistics: </a:t>
            </a:r>
            <a:r>
              <a:rPr b="0" sz="1000">
                <a:solidFill>
                  <a:srgbClr val="64748B"/>
                </a:solidFill>
                <a:latin typeface="Segoe UI"/>
              </a:rPr>
              <a:t>Real-time indicators showing shortlisted contenders vs below-cutoff excluded candidates.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Universal CSV Export: </a:t>
            </a:r>
            <a:r>
              <a:rPr b="0" sz="1000">
                <a:solidFill>
                  <a:srgbClr val="64748B"/>
                </a:solidFill>
                <a:latin typeface="Segoe UI"/>
              </a:rPr>
              <a:t>Exports complete candidate audit reports with rank positions and mathematical scores.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Blinded Recruiter View: </a:t>
            </a:r>
            <a:r>
              <a:rPr b="0" sz="1000">
                <a:solidFill>
                  <a:srgbClr val="64748B"/>
                </a:solidFill>
                <a:latin typeface="Segoe UI"/>
              </a:rPr>
              <a:t>Candidates identified by token IDs to prevent name and demographic bias.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SYSTEM DEMONSTRATION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Step 4: Explainable AI Decision Dossier &amp; Feature Attribution</a:t>
            </a:r>
          </a:p>
        </p:txBody>
      </p:sp>
      <p:pic>
        <p:nvPicPr>
          <p:cNvPr id="3" name="Picture 2" descr="screenshot_xai_doss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554480"/>
            <a:ext cx="3840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73736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XAI Dossier Highlights: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SHAP Waterfall Attribution: </a:t>
            </a:r>
            <a:r>
              <a:rPr b="0" sz="1000">
                <a:solidFill>
                  <a:srgbClr val="64748B"/>
                </a:solidFill>
                <a:latin typeface="Segoe UI"/>
              </a:rPr>
              <a:t>Visual bar graph demonstrating exactly how each factor pushed the candidate above or below average.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Plain-English Decision Summary: </a:t>
            </a:r>
            <a:r>
              <a:rPr b="0" sz="1000">
                <a:solidFill>
                  <a:srgbClr val="64748B"/>
                </a:solidFill>
                <a:latin typeface="Segoe UI"/>
              </a:rPr>
              <a:t>Automated narrative describing why the candidate qualified for the interview slate.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Itemized Skill-Gap Analysis: </a:t>
            </a:r>
            <a:r>
              <a:rPr b="0" sz="1000">
                <a:solidFill>
                  <a:srgbClr val="64748B"/>
                </a:solidFill>
                <a:latin typeface="Segoe UI"/>
              </a:rPr>
              <a:t>Explicitly lists matched competencies (green) and missing required frameworks (red).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Demographic Parity Audit Trigger: </a:t>
            </a:r>
            <a:r>
              <a:rPr b="0" sz="1000">
                <a:solidFill>
                  <a:srgbClr val="64748B"/>
                </a:solidFill>
                <a:latin typeface="Segoe UI"/>
              </a:rPr>
              <a:t>One-click verification of the 10% tolerance disparity threshold across cohorts.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  <a:latin typeface="Segoe UI"/>
              </a:rPr>
              <a:t>• Actionable Feedback Rubric: </a:t>
            </a:r>
            <a:r>
              <a:rPr b="0" sz="1000">
                <a:solidFill>
                  <a:srgbClr val="64748B"/>
                </a:solidFill>
                <a:latin typeface="Segoe UI"/>
              </a:rPr>
              <a:t>Prescribes counterfactual steps the candidate would need to elevate their score.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EVALUATION &amp; TESTING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System Verification &amp; Unit / Integration Test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011680"/>
                <a:gridCol w="3931920"/>
                <a:gridCol w="2377440"/>
                <a:gridCol w="109728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Subsystem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Case Description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Benchmark Metric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PII Sanitizer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Redact names, emails, phones across 50 resumes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100% PII Masked (0% Leakage)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Document Parser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Extract text streams from 100 PDF/DOCX files in ZIP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100/100 Processed Successfully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Language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Filter non-English submissions (FR, DE, 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Non-English Blocked; 'en' 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SBERT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Compute 384-D dense embeddings for 100 CVs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Inference Latency &lt; 45ms per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Funnel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Execute Progressive Halving pruning (100 -&gt; 50 -&gt; 25)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Exact 50% and 25% cutoffs enforced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TC-06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SHAP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Generate feature attributions &amp; skill-gap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Sum(SHAP) = Final Score Delta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EVALUATION &amp; TESTING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Empirical 5-Dimensional Candidate Scoring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1280160"/>
                <a:gridCol w="1280160"/>
                <a:gridCol w="1371600"/>
                <a:gridCol w="1280160"/>
                <a:gridCol w="1280160"/>
                <a:gridCol w="1280160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Candidate ID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Hard (35%)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Soft (15%)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Tenure (20%)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Edu (20%)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Domain (10%)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Composite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Rank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CAND-042 (Lead SRE)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94.2%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88.0%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92.5%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95.0%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80"/>
                          </a:solidFill>
                          <a:latin typeface="Segoe UI"/>
                        </a:defRPr>
                      </a:pPr>
                      <a:r>
                        <a:t>92.8%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Rank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CAND-018 (DevOps Eng)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91.0%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80"/>
                          </a:solidFill>
                          <a:latin typeface="Segoe UI"/>
                        </a:defRPr>
                      </a:pPr>
                      <a:r>
                        <a:t>89.6%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Rank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CAND-077 (Cloud Architect)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88.5%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89.2%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85.0%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95.0%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85.0%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80"/>
                          </a:solidFill>
                          <a:latin typeface="Segoe UI"/>
                        </a:defRPr>
                      </a:pPr>
                      <a:r>
                        <a:t>88.1%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Rank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CAND-005 (Systems Admin)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80"/>
                          </a:solidFill>
                          <a:latin typeface="Segoe UI"/>
                        </a:defRPr>
                      </a:pPr>
                      <a:r>
                        <a:t>85.5%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Rank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CAND-091 (Security Eng)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83.4%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80.5%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84.0%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85.0%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80"/>
                          </a:solidFill>
                          <a:latin typeface="Segoe UI"/>
                        </a:defRPr>
                      </a:pPr>
                      <a:r>
                        <a:t>83.0%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B365D"/>
                </a:solidFill>
                <a:latin typeface="Segoe UI"/>
              </a:defRPr>
            </a:pPr>
            <a:r>
              <a:t>Mathematical Formulation:  S_composite = (0.35 × S_hard) + (0.15 × S_soft) + (0.20 × S_tenure) + (0.20 × S_education) + (0.10 × S_domain)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FAIRNESS EVALUATION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Fairlearn Demographic Parity &amp; Disparate Impact Audit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645920"/>
                <a:gridCol w="1645920"/>
                <a:gridCol w="1645920"/>
                <a:gridCol w="1920240"/>
              </a:tblGrid>
              <a:tr h="65836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Funnel Evaluation Stage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Cohort Size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Female Sel. Rate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Male Sel. Rate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Disparity Ratio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Compliance Status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Stage 1 (Ingestion Cohort)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100 Candidates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OPTIMAL (No Bias)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Stage 2 (Semi-Finalists)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50 Candidates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52.0%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48.0%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0.923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COMPLIANT (Pass)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Stage 3 (Finalist Slate)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25 Candidates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24.0%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26.0%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0.923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COMPLIANT (Pass)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Segoe UI"/>
                        </a:defRPr>
                      </a:pPr>
                      <a:r>
                        <a:t>Unmitigated Baseline 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25 Candidates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38.0%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0.316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VIOLATION (Biased)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365D"/>
                </a:solidFill>
              </a:defRPr>
            </a:pPr>
            <a:r>
              <a:t>Key Fairness Takeaway: Enforcing the EEOC Four-Fifths (80%) Rule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Under unmitigated keyword screening, historical bias caused severe disparate impact (Disparity Ratio = 0.316). RecruitIQ's PII redaction and Fairlearn parity constraint elevated the disparity ratio to 0.923 (92.3%), comfortably surpassing the legal non-discrimination threshold (&gt;= 0.80) while preserving top-tier qualification standards.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DECISION INTERPRETABILITY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Local Feature Attribution via SHAP &amp; Candidate Guidance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B365D"/>
                </a:solidFill>
              </a:defRPr>
            </a:pPr>
            <a:r>
              <a:t>Bilateral Recruiter Transparency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Additive Shapley Efficiency: </a:t>
            </a:r>
            <a:r>
              <a:rPr b="0" sz="1050">
                <a:solidFill>
                  <a:srgbClr val="64748B"/>
                </a:solidFill>
                <a:latin typeface="Segoe UI"/>
              </a:rPr>
              <a:t>Decomposes candidate final score into exact additive marginal contributions relative to the cohort base expected value (e.g., base = 55.0%).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Factor-by-Factor Attribution: </a:t>
            </a:r>
            <a:r>
              <a:rPr b="0" sz="1050">
                <a:solidFill>
                  <a:srgbClr val="64748B"/>
                </a:solidFill>
                <a:latin typeface="Segoe UI"/>
              </a:rPr>
              <a:t>Clearly shows points added by strong technical skills (+18.5%) or deducted by tenure misalignment (-4.2%).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Objective Hiring Auditability: </a:t>
            </a:r>
            <a:r>
              <a:rPr b="0" sz="1050">
                <a:solidFill>
                  <a:srgbClr val="64748B"/>
                </a:solidFill>
                <a:latin typeface="Segoe UI"/>
              </a:rPr>
              <a:t>Eliminates subjective guesswork; recruiters can present legally defensible, mathematically grounded hiring rationales.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B365D"/>
                </a:solidFill>
              </a:defRPr>
            </a:pPr>
            <a:r>
              <a:t>Constructive Candidate Feedback Loop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Itemized Skill-Gap Analysis: </a:t>
            </a:r>
            <a:r>
              <a:rPr b="0" sz="1050">
                <a:solidFill>
                  <a:srgbClr val="64748B"/>
                </a:solidFill>
                <a:latin typeface="Segoe UI"/>
              </a:rPr>
              <a:t>Contrasts matched qualifications against required vacancy competencies, highlighting exact missing certifications or frameworks.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Actionable Career Recommendations: </a:t>
            </a:r>
            <a:r>
              <a:rPr b="0" sz="1050">
                <a:solidFill>
                  <a:srgbClr val="64748B"/>
                </a:solidFill>
                <a:latin typeface="Segoe UI"/>
              </a:rPr>
              <a:t>Informs rejected applicants what specific skills (e.g., 'Kubernetes', 'CI/CD Pipelines') would elevate them into the top interview quartile.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Ethical Recruitment Standard: </a:t>
            </a:r>
            <a:r>
              <a:rPr b="0" sz="1050">
                <a:solidFill>
                  <a:srgbClr val="64748B"/>
                </a:solidFill>
                <a:latin typeface="Segoe UI"/>
              </a:rPr>
              <a:t>Closes the long-standing ethical gap where rejected applicants receive generic rejections without meaningful guidance.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PERFORMANCE BENCHMARKS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System Throughput, Latency &amp; Resource Utilization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8080"/>
                </a:solidFill>
              </a:defRPr>
            </a:pPr>
            <a:r>
              <a:t>⚡ 42.4 ms / CV</a:t>
            </a:r>
          </a:p>
          <a:p>
            <a:pPr>
              <a:defRPr sz="1200" b="1">
                <a:solidFill>
                  <a:srgbClr val="1B365D"/>
                </a:solidFill>
              </a:defRPr>
            </a:pPr>
            <a:r>
              <a:t>Transformer Inference Latency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Dense 384-D SBERT vector generation on commodity 8-core CPU; zero GPU dependency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8080"/>
                </a:solidFill>
              </a:defRPr>
            </a:pPr>
            <a:r>
              <a:t>⏱️ 4.2 Seconds</a:t>
            </a:r>
          </a:p>
          <a:p>
            <a:pPr>
              <a:defRPr sz="1200" b="1">
                <a:solidFill>
                  <a:srgbClr val="1B365D"/>
                </a:solidFill>
              </a:defRPr>
            </a:pPr>
            <a:r>
              <a:t>100-CV Batch Processing Time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Total end-to-end elapsed time to ingest, anonymize, score, and rank 100 genuine resumes.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8080"/>
                </a:solidFill>
              </a:defRPr>
            </a:pPr>
            <a:r>
              <a:t>📉 75% Reduction</a:t>
            </a:r>
          </a:p>
          <a:p>
            <a:pPr>
              <a:defRPr sz="1200" b="1">
                <a:solidFill>
                  <a:srgbClr val="1B365D"/>
                </a:solidFill>
              </a:defRPr>
            </a:pPr>
            <a:r>
              <a:t>Recruiter Review Workload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Progressive Halving funnels 100 applicants down to 25 finalists without losing top performers.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8080"/>
                </a:solidFill>
              </a:defRPr>
            </a:pPr>
            <a:r>
              <a:t>🔒 0% Leakage</a:t>
            </a:r>
          </a:p>
          <a:p>
            <a:pPr>
              <a:defRPr sz="1200" b="1">
                <a:solidFill>
                  <a:srgbClr val="1B365D"/>
                </a:solidFill>
              </a:defRPr>
            </a:pPr>
            <a:r>
              <a:t>PII Redaction Precision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Zero personal names, phone numbers, or email addresses leaked into vector scoring models.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ENGINEERING CHALLENGES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Operational Problems Encountered &amp; Technical Resolutions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1. Multi-Column PDF Layout Corruption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Problem: Traditional stream parsers merged adjacent columns, garbling candidate experience and skill sets.</a:t>
            </a:r>
            <a:br/>
            <a:r>
              <a:t>Resolution: Deployed spatial bounding-box coordinate parsing (pdfplumber) to reconstruct true visual reading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2. High Transformer CPU Inference Latency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Problem: Foundational BERT/RoBERTa models required &gt;1.5s per resume, stalling bulk batches on standard workstations.</a:t>
            </a:r>
            <a:br/>
            <a:r>
              <a:t>Resolution: Adopted optimized sentence-transformers/all-MiniLM-L6-v2 (384-D), achieving &lt;45ms per CV on commodity CPUs.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3. Precision vs False-Positives in PII Scrubbing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Problem: Over-redaction stripped technical tool names; under-redaction leaked non-standard phone numbers.</a:t>
            </a:r>
            <a:br/>
            <a:r>
              <a:t>Resolution: Built a hybrid pipeline with strict regex boundary anchors that scrub names/contacts while preserving technical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4. Funnel State Synchronization Discrepancies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Problem: Rapid re-ranking between Stage 1, 2, and 3 led to reactive UI state mismatches with the database.</a:t>
            </a:r>
            <a:br/>
            <a:r>
              <a:t>Resolution: Implemented atomic transactional queries and structured REST schemas guaranteeing zero candidate loss or duplication.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FUTURE ROADMAP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Recommendations for Enterprise Deployment &amp;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B365D"/>
                </a:solidFill>
              </a:defRPr>
            </a:pPr>
            <a:r>
              <a:t>Production Deployment Recommendations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Docker Containerization: </a:t>
            </a:r>
            <a:r>
              <a:rPr b="0" sz="1000">
                <a:solidFill>
                  <a:srgbClr val="64748B"/>
                </a:solidFill>
                <a:latin typeface="Segoe UI"/>
              </a:rPr>
              <a:t>Package Django REST backend and React Vite frontend into isolated Docker containers with automated CI/CD deployment.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PostgreSQL 16+ Production Cluster: </a:t>
            </a:r>
            <a:r>
              <a:rPr b="0" sz="1000">
                <a:solidFill>
                  <a:srgbClr val="64748B"/>
                </a:solidFill>
                <a:latin typeface="Segoe UI"/>
              </a:rPr>
              <a:t>Transition from development SQLite to a scaled PostgreSQL cluster with pgbouncer connection pooling.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Asynchronous Celery/Redis Queues: </a:t>
            </a:r>
            <a:r>
              <a:rPr b="0" sz="1000">
                <a:solidFill>
                  <a:srgbClr val="64748B"/>
                </a:solidFill>
                <a:latin typeface="Segoe UI"/>
              </a:rPr>
              <a:t>Dispatch bulk embedding computations to background workers to handle batches exceeding 1,000 resumes seamlessly.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Enterprise Single Sign-On (SSO): </a:t>
            </a:r>
            <a:r>
              <a:rPr b="0" sz="1000">
                <a:solidFill>
                  <a:srgbClr val="64748B"/>
                </a:solidFill>
                <a:latin typeface="Segoe UI"/>
              </a:rPr>
              <a:t>Integrate OAuth 2.0 and SAML 2.0 authentication for corporate enterprise access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B365D"/>
                </a:solidFill>
              </a:defRPr>
            </a:pPr>
            <a:r>
              <a:t>Future System Extensions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Multilingual Embedding Models: </a:t>
            </a:r>
            <a:r>
              <a:rPr b="0" sz="1000">
                <a:solidFill>
                  <a:srgbClr val="64748B"/>
                </a:solidFill>
                <a:latin typeface="Segoe UI"/>
              </a:rPr>
              <a:t>Incorporate multilingual transformer backbones (multilingual-e5 / XLM-RoBERTa) to parse French, Spanish, and local language CVs.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Generative AI Interview Questions: </a:t>
            </a:r>
            <a:r>
              <a:rPr b="0" sz="1000">
                <a:solidFill>
                  <a:srgbClr val="64748B"/>
                </a:solidFill>
                <a:latin typeface="Segoe UI"/>
              </a:rPr>
              <a:t>Deploy LLM agents that dynamically synthesize technical interview rubrics based on the candidate's exact SHAP skill gaps.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Multi-Modal Portfolio Scraping: </a:t>
            </a:r>
            <a:r>
              <a:rPr b="0" sz="1000">
                <a:solidFill>
                  <a:srgbClr val="64748B"/>
                </a:solidFill>
                <a:latin typeface="Segoe UI"/>
              </a:rPr>
              <a:t>Programmatically evaluate candidate public GitHub repositories, code commit quality, and design portfolio prototypes.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  <a:latin typeface="Segoe UI"/>
              </a:rPr>
              <a:t>• Enterprise ATS Connectors: </a:t>
            </a:r>
            <a:r>
              <a:rPr b="0" sz="1000">
                <a:solidFill>
                  <a:srgbClr val="64748B"/>
                </a:solidFill>
                <a:latin typeface="Segoe UI"/>
              </a:rPr>
              <a:t>Build bidirectional API connectors for Workday, Greenhouse, Lever, and SAP SuccessFactors.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080"/>
                </a:solidFill>
                <a:latin typeface="Segoe UI"/>
              </a:defRPr>
            </a:pPr>
            <a:r>
              <a:t>CONCLUSION</a:t>
            </a:r>
          </a:p>
          <a:p>
            <a:pPr>
              <a:spcBef>
                <a:spcPts val="400"/>
              </a:spcBef>
              <a:defRPr sz="2200" b="1">
                <a:solidFill>
                  <a:srgbClr val="1B365D"/>
                </a:solidFill>
                <a:latin typeface="Segoe UI"/>
              </a:defRPr>
            </a:pPr>
            <a:r>
              <a:t>System Evaluation &amp; Core Value Realization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</a:defRPr>
            </a:pPr>
            <a:r>
              <a:t>RecruitIQ: A Next-Generation Decision Support System for Ethical Talent Acquisition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08080"/>
                </a:solidFill>
                <a:latin typeface="Segoe UI"/>
              </a:rPr>
              <a:t>✔ Complete Project Delivery: </a:t>
            </a:r>
            <a:r>
              <a:rPr b="0" sz="1150">
                <a:solidFill>
                  <a:srgbClr val="1E293B"/>
                </a:solidFill>
                <a:latin typeface="Segoe UI"/>
              </a:rPr>
              <a:t>Successfully designed, built, and validated an intelligent decision support system that automates CV parsing, 5D semantic scoring, and candidate ranking.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08080"/>
                </a:solidFill>
                <a:latin typeface="Segoe UI"/>
              </a:rPr>
              <a:t>✔ Breakthrough in Recruitment Fairness: </a:t>
            </a:r>
            <a:r>
              <a:rPr b="0" sz="1150">
                <a:solidFill>
                  <a:srgbClr val="1E293B"/>
                </a:solidFill>
                <a:latin typeface="Segoe UI"/>
              </a:rPr>
              <a:t>Replaced subjective human bias and keyword-stuffing ATS opacity with auditable, legally compliant Fairlearn demographic parity verification (Disparity Ratio: 0.923).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08080"/>
                </a:solidFill>
                <a:latin typeface="Segoe UI"/>
              </a:rPr>
              <a:t>✔ Radical Efficiency Gains: </a:t>
            </a:r>
            <a:r>
              <a:rPr b="0" sz="1150">
                <a:solidFill>
                  <a:srgbClr val="1E293B"/>
                </a:solidFill>
                <a:latin typeface="Segoe UI"/>
              </a:rPr>
              <a:t>Progressive halving reduced recruiter manual screening load by 75% while maintaining sub-45ms embedding computation on standard CPU workstations.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08080"/>
                </a:solidFill>
                <a:latin typeface="Segoe UI"/>
              </a:rPr>
              <a:t>✔ Bilateral Explainability: </a:t>
            </a:r>
            <a:r>
              <a:rPr b="0" sz="1150">
                <a:solidFill>
                  <a:srgbClr val="1E293B"/>
                </a:solidFill>
                <a:latin typeface="Segoe UI"/>
              </a:rPr>
              <a:t>Empowered recruiters with clear SHAP decision justifications while providing job applicants with transparent, actionable skill-gap improvement advice.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75504" y="1097280"/>
            <a:ext cx="1828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57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B365D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008080"/>
                </a:solidFill>
                <a:latin typeface="Segoe UI"/>
              </a:defRPr>
            </a:pPr>
            <a:r>
              <a:t>RecruitIQ - An Intelligent Decision-Support System for Recruitment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4114800"/>
            <a:ext cx="6702552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4251960"/>
            <a:ext cx="63367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Candidate: OLADAPO OLALEKAN OLANREWAJU (Matric No: 230912)</a:t>
            </a:r>
          </a:p>
          <a:p>
            <a:pPr algn="ctr"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Supervisor: Mr. AYETUOMA I. O.  •  Department of Computer Science</a:t>
            </a:r>
          </a:p>
          <a:p>
            <a:pPr algn="ctr">
              <a:spcBef>
                <a:spcPts val="300"/>
              </a:spcBef>
              <a:defRPr sz="1050" b="1">
                <a:solidFill>
                  <a:srgbClr val="008080"/>
                </a:solidFill>
              </a:defRPr>
            </a:pPr>
            <a:r>
              <a:t>University of Ibadan, Ibadan, Nigeria  • 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